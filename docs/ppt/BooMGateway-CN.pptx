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205" y="634901"/>
            <a:ext cx="385508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BooMGateway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143720" y="1317427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4205" y="1596777"/>
            <a:ext cx="38550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高性能 LLM API 网关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4205" y="2165003"/>
            <a:ext cx="38550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原生 | 多供应商 | 企业级限流与流控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58514"/>
            <a:ext cx="833586" cy="19050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7945" y="306139"/>
            <a:ext cx="727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SDK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76486" y="258514"/>
            <a:ext cx="833735" cy="19050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29630" y="306139"/>
            <a:ext cx="7274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SDK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2048321" y="258514"/>
            <a:ext cx="833586" cy="19050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01467" y="306139"/>
            <a:ext cx="727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/ HTTP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920008" y="258514"/>
            <a:ext cx="833586" cy="19050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73153" y="306139"/>
            <a:ext cx="727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804345" y="296614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56745" y="177701"/>
            <a:ext cx="1230362" cy="352276"/>
          </a:xfrm>
          <a:prstGeom prst="roundRect">
            <a:avLst>
              <a:gd name="adj" fmla="val 14421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25696" y="228451"/>
            <a:ext cx="8924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BooMGateway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25696" y="383977"/>
            <a:ext cx="8924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0B4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Gateway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237857" y="296614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0257" y="258514"/>
            <a:ext cx="833586" cy="19050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43402" y="306139"/>
            <a:ext cx="727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261943" y="258514"/>
            <a:ext cx="833735" cy="19050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15087" y="306139"/>
            <a:ext cx="7274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claude-sonnet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7133779" y="258514"/>
            <a:ext cx="833586" cy="19050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86924" y="306139"/>
            <a:ext cx="727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8005465" y="258514"/>
            <a:ext cx="833735" cy="190500"/>
          </a:xfrm>
          <a:prstGeom prst="roundRect">
            <a:avLst>
              <a:gd name="adj" fmla="val 20000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58608" y="306139"/>
            <a:ext cx="7274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/ Ollama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04800" y="634603"/>
            <a:ext cx="3773537" cy="12650"/>
          </a:xfrm>
          <a:prstGeom prst="rect">
            <a:avLst/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54537" y="593378"/>
            <a:ext cx="8516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Capabilities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65663" y="634603"/>
            <a:ext cx="3773537" cy="12650"/>
          </a:xfrm>
          <a:prstGeom prst="rect">
            <a:avLst/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4800" y="739378"/>
            <a:ext cx="2082701" cy="731341"/>
          </a:xfrm>
          <a:prstGeom prst="roundRect">
            <a:avLst>
              <a:gd name="adj" fmla="val 6946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0525" y="812304"/>
            <a:ext cx="1949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90525" y="910679"/>
            <a:ext cx="1949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全链路分级管控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0525" y="1088380"/>
            <a:ext cx="1949476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认证 → 白名单 → Plan 限流 → 并发控制 → 路由，</a:t>
            </a:r>
            <a:pPr algn="l" indent="0" marL="0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层逐级拦截</a:t>
            </a:r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。每个 Key 独立绑定限流模板、用量预算和 VIP 等级。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450902" y="739378"/>
            <a:ext cx="2082701" cy="731341"/>
          </a:xfrm>
          <a:prstGeom prst="roundRect">
            <a:avLst>
              <a:gd name="adj" fmla="val 6946"/>
            </a:avLst>
          </a:prstGeom>
          <a:solidFill>
            <a:srgbClr val="1A1810"/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536627" y="812304"/>
            <a:ext cx="1949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536627" y="910679"/>
            <a:ext cx="1949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KV-Aware 亲和调度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36627" y="1088380"/>
            <a:ext cx="1949476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</a:t>
            </a:r>
            <a:pPr algn="l" indent="0" marL="0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{Key+Model}</a:t>
            </a:r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绑定固定部署，最大化上游 KV Cache 命中率，降低首 Token 延迟。负载超阈值时</a:t>
            </a:r>
            <a:pPr algn="l" indent="0" marL="0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自动再平衡</a:t>
            </a:r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防热点。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597003" y="739378"/>
            <a:ext cx="2082701" cy="731341"/>
          </a:xfrm>
          <a:prstGeom prst="roundRect">
            <a:avLst>
              <a:gd name="adj" fmla="val 6946"/>
            </a:avLst>
          </a:prstGeom>
          <a:solidFill>
            <a:srgbClr val="1A1810"/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682728" y="812304"/>
            <a:ext cx="1949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682728" y="910679"/>
            <a:ext cx="1949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集群流量治理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82728" y="1088380"/>
            <a:ext cx="1949476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网关控制突发流量防止后端雪崩，排队而非拒绝。</a:t>
            </a:r>
            <a:pPr algn="l" indent="0" marL="0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Key 优先出队保障 SLA</a:t>
            </a:r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，上下文预算防止单个大请求垄断资源。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743105" y="739378"/>
            <a:ext cx="2082701" cy="731341"/>
          </a:xfrm>
          <a:prstGeom prst="roundRect">
            <a:avLst>
              <a:gd name="adj" fmla="val 6946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28830" y="812304"/>
            <a:ext cx="1949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828830" y="910679"/>
            <a:ext cx="1949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自愈路由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28830" y="1088380"/>
            <a:ext cx="1949476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三级兜底</a:t>
            </a:r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：精确 → 别名 → 通配，请求永不被丢弃。连续失败自动摘除故障节点，修复后一键恢复。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04800" y="1534120"/>
            <a:ext cx="2082701" cy="731341"/>
          </a:xfrm>
          <a:prstGeom prst="roundRect">
            <a:avLst>
              <a:gd name="adj" fmla="val 6946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90525" y="1607046"/>
            <a:ext cx="1949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90525" y="1705421"/>
            <a:ext cx="1949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统一协议网关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90525" y="1883122"/>
            <a:ext cx="1949476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供应商通过 </a:t>
            </a:r>
            <a:pPr algn="l" indent="0" marL="0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兼容 API</a:t>
            </a:r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接入。Anthropic API 自动转码。模型别名实现无感迁移，客户端零改动。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450902" y="1534120"/>
            <a:ext cx="2082701" cy="731341"/>
          </a:xfrm>
          <a:prstGeom prst="roundRect">
            <a:avLst>
              <a:gd name="adj" fmla="val 6946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536627" y="1607046"/>
            <a:ext cx="1949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2536627" y="1705421"/>
            <a:ext cx="1949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成本感知配额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536627" y="1883122"/>
            <a:ext cx="194947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调用昂贵模型消耗 </a:t>
            </a:r>
            <a:pPr algn="l" indent="0" marL="0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倍配额</a:t>
            </a:r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，自然引导用户选高效模型。时段调度高峰放宽、夜间收紧，自动调峰。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597003" y="1534120"/>
            <a:ext cx="2082701" cy="731341"/>
          </a:xfrm>
          <a:prstGeom prst="roundRect">
            <a:avLst>
              <a:gd name="adj" fmla="val 6946"/>
            </a:avLst>
          </a:prstGeom>
          <a:solidFill>
            <a:srgbClr val="1A1810"/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682728" y="1607046"/>
            <a:ext cx="1949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82728" y="1705421"/>
            <a:ext cx="1949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零停机热重载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682728" y="1883122"/>
            <a:ext cx="1949476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或 SIGHUP 触发配置</a:t>
            </a:r>
            <a:pPr algn="l" indent="0" marL="0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即时生效</a:t>
            </a:r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。运行时计数器、排队、亲和映射全部保留，进行中请求不受影响。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743105" y="1534120"/>
            <a:ext cx="2082701" cy="731341"/>
          </a:xfrm>
          <a:prstGeom prst="roundRect">
            <a:avLst>
              <a:gd name="adj" fmla="val 6946"/>
            </a:avLst>
          </a:prstGeom>
          <a:solidFill>
            <a:srgbClr val="1A1810"/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828830" y="1607046"/>
            <a:ext cx="1949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828830" y="1705421"/>
            <a:ext cx="1949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全链路可观测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28830" y="1883122"/>
            <a:ext cx="1949476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每请求记录 Token / 耗时 / Key / 团队。实时在途监控。</a:t>
            </a:r>
            <a:pPr algn="l" indent="0" marL="0">
              <a:lnSpc>
                <a:spcPts val="812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模式</a:t>
            </a:r>
            <a:pPr algn="l" indent="0" marL="0">
              <a:lnSpc>
                <a:spcPts val="812"/>
              </a:lnSpc>
              <a:buNone/>
            </a:pPr>
            <a:r>
              <a:rPr lang="en-US" sz="6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一键捕获上游错误完整请求/响应，无需复现。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04800" y="2357438"/>
            <a:ext cx="3667274" cy="12650"/>
          </a:xfrm>
          <a:prstGeom prst="rect">
            <a:avLst/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048274" y="2316212"/>
            <a:ext cx="1068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Inference Cluster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171777" y="2357438"/>
            <a:ext cx="3667423" cy="12650"/>
          </a:xfrm>
          <a:prstGeom prst="rect">
            <a:avLst/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304800" y="2503438"/>
            <a:ext cx="3957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推理集群: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43545" y="2474863"/>
            <a:ext cx="851892" cy="180975"/>
          </a:xfrm>
          <a:prstGeom prst="roundRect">
            <a:avLst>
              <a:gd name="adj" fmla="val 21053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96507" y="2522488"/>
            <a:ext cx="7459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1633538" y="2474863"/>
            <a:ext cx="852041" cy="180975"/>
          </a:xfrm>
          <a:prstGeom prst="roundRect">
            <a:avLst>
              <a:gd name="adj" fmla="val 21053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686498" y="2522488"/>
            <a:ext cx="7461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2523679" y="2474863"/>
            <a:ext cx="851892" cy="180975"/>
          </a:xfrm>
          <a:prstGeom prst="roundRect">
            <a:avLst>
              <a:gd name="adj" fmla="val 21053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2576640" y="2522488"/>
            <a:ext cx="7459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3413671" y="2474863"/>
            <a:ext cx="852041" cy="180975"/>
          </a:xfrm>
          <a:prstGeom prst="roundRect">
            <a:avLst>
              <a:gd name="adj" fmla="val 21053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3466631" y="2522488"/>
            <a:ext cx="7461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4303812" y="2474863"/>
            <a:ext cx="852041" cy="180975"/>
          </a:xfrm>
          <a:prstGeom prst="roundRect">
            <a:avLst>
              <a:gd name="adj" fmla="val 21053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356772" y="2522488"/>
            <a:ext cx="7461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193953" y="2474863"/>
            <a:ext cx="852041" cy="180975"/>
          </a:xfrm>
          <a:prstGeom prst="roundRect">
            <a:avLst>
              <a:gd name="adj" fmla="val 21053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5246913" y="2522488"/>
            <a:ext cx="7461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6084094" y="2474863"/>
            <a:ext cx="852041" cy="180975"/>
          </a:xfrm>
          <a:prstGeom prst="roundRect">
            <a:avLst>
              <a:gd name="adj" fmla="val 21053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137054" y="2522488"/>
            <a:ext cx="7461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6974235" y="2474863"/>
            <a:ext cx="852041" cy="180975"/>
          </a:xfrm>
          <a:prstGeom prst="roundRect">
            <a:avLst>
              <a:gd name="adj" fmla="val 21053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7027195" y="2522488"/>
            <a:ext cx="7461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7864376" y="2474863"/>
            <a:ext cx="852041" cy="180975"/>
          </a:xfrm>
          <a:prstGeom prst="roundRect">
            <a:avLst>
              <a:gd name="adj" fmla="val 21053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7917336" y="2522488"/>
            <a:ext cx="7461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8754517" y="2474863"/>
            <a:ext cx="863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203150"/>
            <a:ext cx="860155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55550" y="555575"/>
            <a:ext cx="634901" cy="38100"/>
          </a:xfrm>
          <a:prstGeom prst="roundRect">
            <a:avLst>
              <a:gd name="adj" fmla="val 33333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644426"/>
            <a:ext cx="1289149" cy="225326"/>
          </a:xfrm>
          <a:prstGeom prst="roundRect">
            <a:avLst>
              <a:gd name="adj" fmla="val 16909"/>
            </a:avLst>
          </a:prstGeom>
          <a:solidFill>
            <a:srgbClr val="1E1E35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7043" y="704701"/>
            <a:ext cx="11661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boom-auth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670000" y="709464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784300" y="644426"/>
            <a:ext cx="1289149" cy="225326"/>
          </a:xfrm>
          <a:prstGeom prst="roundRect">
            <a:avLst>
              <a:gd name="adj" fmla="val 16909"/>
            </a:avLst>
          </a:prstGeom>
          <a:solidFill>
            <a:srgbClr val="1E1E35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45793" y="704701"/>
            <a:ext cx="11661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boom-limiter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98750" y="709464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13050" y="644426"/>
            <a:ext cx="1289149" cy="225326"/>
          </a:xfrm>
          <a:prstGeom prst="roundRect">
            <a:avLst>
              <a:gd name="adj" fmla="val 16909"/>
            </a:avLst>
          </a:prstGeom>
          <a:solidFill>
            <a:srgbClr val="1E1E35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4543" y="704701"/>
            <a:ext cx="11661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boom-routing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27500" y="709464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41800" y="644426"/>
            <a:ext cx="1289149" cy="225326"/>
          </a:xfrm>
          <a:prstGeom prst="roundRect">
            <a:avLst>
              <a:gd name="adj" fmla="val 16909"/>
            </a:avLst>
          </a:prstGeom>
          <a:solidFill>
            <a:srgbClr val="1E1E35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03293" y="704701"/>
            <a:ext cx="11661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boom-flowcontrol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956250" y="709464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070550" y="644426"/>
            <a:ext cx="1289149" cy="225326"/>
          </a:xfrm>
          <a:prstGeom prst="roundRect">
            <a:avLst>
              <a:gd name="adj" fmla="val 16909"/>
            </a:avLst>
          </a:prstGeom>
          <a:solidFill>
            <a:srgbClr val="1E1E35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32043" y="704701"/>
            <a:ext cx="11661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boom-provider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85000" y="709464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499300" y="644426"/>
            <a:ext cx="1289149" cy="225326"/>
          </a:xfrm>
          <a:prstGeom prst="roundRect">
            <a:avLst>
              <a:gd name="adj" fmla="val 16909"/>
            </a:avLst>
          </a:prstGeom>
          <a:solidFill>
            <a:srgbClr val="1E1E35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60793" y="704701"/>
            <a:ext cx="11661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boom-audit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55550" y="933152"/>
            <a:ext cx="4377333" cy="577453"/>
          </a:xfrm>
          <a:prstGeom prst="roundRect">
            <a:avLst>
              <a:gd name="adj" fmla="val 8797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3926" y="993428"/>
            <a:ext cx="42641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3926" y="1101328"/>
            <a:ext cx="42641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boom-main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3926" y="1228279"/>
            <a:ext cx="4264194" cy="22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主程序入口。组装所有模块、管理 AppState 生命周期、注册路由、处理热加载。持有所有子模块的 Arc 引用，是唯一知道"全貌"的模块。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5550" y="1561356"/>
            <a:ext cx="4377333" cy="466427"/>
          </a:xfrm>
          <a:prstGeom prst="roundRect">
            <a:avLst>
              <a:gd name="adj" fmla="val 10891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3926" y="1621631"/>
            <a:ext cx="42641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53926" y="1729532"/>
            <a:ext cx="42641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boom-auth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3926" y="1856482"/>
            <a:ext cx="4264194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密钥认证（SHA-256 + DB 查询 + Master Key）。读取 litellm 兼容表，支持 Token 缓存。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55550" y="2078534"/>
            <a:ext cx="4377333" cy="577453"/>
          </a:xfrm>
          <a:prstGeom prst="roundRect">
            <a:avLst>
              <a:gd name="adj" fmla="val 8797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3926" y="2138809"/>
            <a:ext cx="42641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3926" y="2246709"/>
            <a:ext cx="42641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boom-routing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3926" y="2373660"/>
            <a:ext cx="4264194" cy="22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DeploymentStore（模型 → Provider 映射）+ AliasStore（别名解析）+ 调度策略（Round Robin / KV 亲和路由）。负责精确匹配 → 别名 → 兜底三级路由。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55550" y="2706737"/>
            <a:ext cx="4377333" cy="466427"/>
          </a:xfrm>
          <a:prstGeom prst="roundRect">
            <a:avLst>
              <a:gd name="adj" fmla="val 10891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3926" y="2767013"/>
            <a:ext cx="42641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CONTROL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3926" y="2874913"/>
            <a:ext cx="42641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boom-flowcontrol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3926" y="3001863"/>
            <a:ext cx="4264194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每部署并发 + 上下文预算限制。满载排队 + VIP 优先出队。RAII Guard 自动释放。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09083" y="933152"/>
            <a:ext cx="3979366" cy="577453"/>
          </a:xfrm>
          <a:prstGeom prst="roundRect">
            <a:avLst>
              <a:gd name="adj" fmla="val 8797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907459" y="993428"/>
            <a:ext cx="38582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907459" y="1101328"/>
            <a:ext cx="38582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boom-limiter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07459" y="1228279"/>
            <a:ext cx="3858268" cy="22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滑动窗口限流（RPM + 自定义窗口）+ 并发控制 + PlanStore（Key → Plan → 限流策略）+ 时段调度。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09083" y="1561356"/>
            <a:ext cx="3979366" cy="577453"/>
          </a:xfrm>
          <a:prstGeom prst="roundRect">
            <a:avLst>
              <a:gd name="adj" fmla="val 8797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07459" y="1621631"/>
            <a:ext cx="38582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907459" y="1729532"/>
            <a:ext cx="38582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boom-provider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07459" y="1856482"/>
            <a:ext cx="3858268" cy="22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 Provider 实例（OpenAI / Anthropic / Azure / Bedrock / Gemini / vLLM 等 30+ 供应商）。处理流式/非流式代理转发和 Anthropic 协议转码。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809083" y="2189559"/>
            <a:ext cx="3979366" cy="466427"/>
          </a:xfrm>
          <a:prstGeom prst="roundRect">
            <a:avLst>
              <a:gd name="adj" fmla="val 10891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07459" y="2249835"/>
            <a:ext cx="38582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07459" y="2357735"/>
            <a:ext cx="38582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boom-audit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07459" y="2484686"/>
            <a:ext cx="3858268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请求日志读写（boom_request_log 表）。LoggedStream 在 Drop 时记录真实 duration。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809083" y="2706737"/>
            <a:ext cx="3979366" cy="466427"/>
          </a:xfrm>
          <a:prstGeom prst="roundRect">
            <a:avLst>
              <a:gd name="adj" fmla="val 10891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907459" y="2767013"/>
            <a:ext cx="38582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907459" y="2874913"/>
            <a:ext cx="38582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boom-config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07459" y="3001863"/>
            <a:ext cx="3858268" cy="11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配置解析 + 环境变量展开。热重载时由 boom-main 调用重新加载。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809083" y="3223915"/>
            <a:ext cx="3979366" cy="577453"/>
          </a:xfrm>
          <a:prstGeom prst="roundRect">
            <a:avLst>
              <a:gd name="adj" fmla="val 8797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907459" y="3284190"/>
            <a:ext cx="38582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907459" y="3392091"/>
            <a:ext cx="38582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boom-dashboard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07459" y="3519041"/>
            <a:ext cx="3858268" cy="22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5"/>
              </a:lnSpc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+ REST API + JWT 认证。通过 AdminCommand Channel 向 boom-main 发送写操作，不直接依赖 boom-provider / boom-config。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55550" y="3852118"/>
            <a:ext cx="8432899" cy="412552"/>
          </a:xfrm>
          <a:prstGeom prst="roundRect">
            <a:avLst>
              <a:gd name="adj" fmla="val 12314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66576" y="3925044"/>
            <a:ext cx="3710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boom-core</a:t>
            </a:r>
            <a:pPr algn="l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公共 trait（Provider, Authenticator, RateLimiter）和类型定义，是唯一的叶子依赖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281934" y="3925044"/>
            <a:ext cx="2805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依赖方向</a:t>
            </a:r>
            <a:pPr algn="l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：所有模块 → boom-core，互不依赖。boom-main → 所有模块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209979" y="3925044"/>
            <a:ext cx="14967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持久化</a:t>
            </a:r>
            <a:pPr algn="l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：PostgreSQL + DashMap 内存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55550" y="4307532"/>
            <a:ext cx="8432899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051" y="4350395"/>
            <a:ext cx="839449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DashMap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分片锁并发 HashMap，按 CPU 核心数分片，不同分片读写零竞争，适合高并发读写共享状态。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57051" y="4462016"/>
            <a:ext cx="839449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ArcSwap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原子指针交换，热加载时整体替换配置引用，新旧请求各自读到一致的快照，无需加锁。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57051" y="4573637"/>
            <a:ext cx="839449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AdminCommand Channel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boom-dashboard 通过 mpsc 管道向 boom-main 发送写命令，避免 dashboard 直接依赖 provider/config 模块。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457051" y="4685258"/>
            <a:ext cx="839449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RAII Guard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利用 Rust Drop trait 在变量离开作用域时自动释放资源（并发槽位、流控计数），即使请求异常中断也不会泄漏。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35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 LLM 网关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301" y="682526"/>
            <a:ext cx="634901" cy="38100"/>
          </a:xfrm>
          <a:prstGeom prst="roundRect">
            <a:avLst>
              <a:gd name="adj" fmla="val 33333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847576"/>
            <a:ext cx="4076849" cy="584002"/>
          </a:xfrm>
          <a:prstGeom prst="roundRect">
            <a:avLst>
              <a:gd name="adj" fmla="val 10873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776" y="958602"/>
            <a:ext cx="374600" cy="374600"/>
          </a:xfrm>
          <a:prstGeom prst="roundRect">
            <a:avLst>
              <a:gd name="adj" fmla="val 13561"/>
            </a:avLst>
          </a:prstGeom>
          <a:solidFill>
            <a:srgbClr val="2A1A1A"/>
          </a:solidFill>
          <a:ln w="9525">
            <a:solidFill>
              <a:srgbClr val="55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0591" y="104105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8877" y="945952"/>
            <a:ext cx="3394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多个 LLM 供应商，API 各不相同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8877" y="1123652"/>
            <a:ext cx="3394353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 OpenAI 兼容 API</a:t>
            </a:r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，30+ 供应商一键接入，客户端无需改动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6301" y="1520428"/>
            <a:ext cx="4076849" cy="584002"/>
          </a:xfrm>
          <a:prstGeom prst="roundRect">
            <a:avLst>
              <a:gd name="adj" fmla="val 10873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776" y="1631454"/>
            <a:ext cx="374600" cy="374600"/>
          </a:xfrm>
          <a:prstGeom prst="roundRect">
            <a:avLst>
              <a:gd name="adj" fmla="val 13561"/>
            </a:avLst>
          </a:prstGeom>
          <a:solidFill>
            <a:srgbClr val="2A1A1A"/>
          </a:solidFill>
          <a:ln w="9525">
            <a:solidFill>
              <a:srgbClr val="55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0591" y="171390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8877" y="1618804"/>
            <a:ext cx="3394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分发后无法管控用量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18877" y="1796504"/>
            <a:ext cx="3394353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密钥级权限 + 模型白名单 + 用量预算</a:t>
            </a:r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，每把 Key 独立限流计费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6301" y="2193280"/>
            <a:ext cx="4076849" cy="584002"/>
          </a:xfrm>
          <a:prstGeom prst="roundRect">
            <a:avLst>
              <a:gd name="adj" fmla="val 10873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2776" y="2304306"/>
            <a:ext cx="374600" cy="374600"/>
          </a:xfrm>
          <a:prstGeom prst="roundRect">
            <a:avLst>
              <a:gd name="adj" fmla="val 13561"/>
            </a:avLst>
          </a:prstGeom>
          <a:solidFill>
            <a:srgbClr val="2A1A1A"/>
          </a:solidFill>
          <a:ln w="9525">
            <a:solidFill>
              <a:srgbClr val="55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0591" y="2386757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18877" y="2291655"/>
            <a:ext cx="3394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流量突发直接打爆上游供应商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18877" y="2469356"/>
            <a:ext cx="3394353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多层限流 + 排队保护</a:t>
            </a:r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，高峰排队而非拒绝，VIP 优先保障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6301" y="2866132"/>
            <a:ext cx="4076849" cy="584002"/>
          </a:xfrm>
          <a:prstGeom prst="roundRect">
            <a:avLst>
              <a:gd name="adj" fmla="val 10873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2776" y="2977158"/>
            <a:ext cx="374600" cy="374600"/>
          </a:xfrm>
          <a:prstGeom prst="roundRect">
            <a:avLst>
              <a:gd name="adj" fmla="val 13561"/>
            </a:avLst>
          </a:prstGeom>
          <a:solidFill>
            <a:srgbClr val="2A1A1A"/>
          </a:solidFill>
          <a:ln w="9525">
            <a:solidFill>
              <a:srgbClr val="55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0591" y="305960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18877" y="2964507"/>
            <a:ext cx="3394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在线业务不能停，配置变更需重启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18877" y="3142208"/>
            <a:ext cx="3394353" cy="14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热重载零停机</a:t>
            </a:r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，Rust 原生无 GC 暂停，SIGHUP 即时生效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0850" y="847576"/>
            <a:ext cx="4076849" cy="1186160"/>
          </a:xfrm>
          <a:prstGeom prst="roundRect">
            <a:avLst>
              <a:gd name="adj" fmla="val 5353"/>
            </a:avLst>
          </a:prstGeom>
          <a:solidFill>
            <a:srgbClr val="00D4FF">
              <a:alpha val="5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32300" y="980926"/>
            <a:ext cx="38086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统一接入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32300" y="1247626"/>
            <a:ext cx="380862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兼容协议</a:t>
            </a:r>
            <a:pPr algn="l" indent="0" marL="0">
              <a:lnSpc>
                <a:spcPts val="121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标准 /v1/chat/completions 接入点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32300" y="1465213"/>
            <a:ext cx="380862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多协议转换</a:t>
            </a:r>
            <a:pPr algn="l" indent="0" marL="0">
              <a:lnSpc>
                <a:spcPts val="121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Anthropic API 自动转码为 OpenAI 格式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32300" y="1682800"/>
            <a:ext cx="380862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全流式支持</a:t>
            </a:r>
            <a:pPr algn="l" indent="0" marL="0">
              <a:lnSpc>
                <a:spcPts val="121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SSE 流式代理，实时 token 传输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0850" y="2135237"/>
            <a:ext cx="4076849" cy="968573"/>
          </a:xfrm>
          <a:prstGeom prst="roundRect">
            <a:avLst>
              <a:gd name="adj" fmla="val 6556"/>
            </a:avLst>
          </a:prstGeom>
          <a:solidFill>
            <a:srgbClr val="00D4FF">
              <a:alpha val="5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32300" y="2268587"/>
            <a:ext cx="38086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精细管控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32300" y="2535287"/>
            <a:ext cx="380862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→ Plan → 限流策略 → 部署路由</a:t>
            </a:r>
            <a:pPr algn="l" indent="0" marL="0">
              <a:lnSpc>
                <a:spcPts val="121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，全链路可配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32300" y="2752874"/>
            <a:ext cx="380862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管理</a:t>
            </a:r>
            <a:pPr algn="l" indent="0" marL="0">
              <a:lnSpc>
                <a:spcPts val="121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密钥、模型、别名、限流计划一站式管理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0850" y="3205311"/>
            <a:ext cx="4076849" cy="632817"/>
          </a:xfrm>
          <a:prstGeom prst="roundRect">
            <a:avLst>
              <a:gd name="adj" fmla="val 8028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59287" y="3291036"/>
            <a:ext cx="38799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已支持的 LLM 供应商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9287" y="3472011"/>
            <a:ext cx="3879976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ctr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Azure | Bedrock | Gemini | </a:t>
            </a:r>
            <a:pPr algn="ctr" indent="0" marL="0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vLLM | Ollama | Groq ...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06301" y="4626173"/>
            <a:ext cx="8331398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301" y="4681686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SIGHUP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Unix 信号，发送后网关重新读取配置文件并热加载，进程不重启，连接不断开。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06301" y="4793307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暂停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Go/Java 等语言的垃圾回收器会短暂暂停所有线程，Rust 无 GC，不存在此问题，适合低延迟流式场景。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06301" y="4904929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(Server-Sent Events)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流式传输协议，上游逐个生成 token 后立即推送给客户端，实现"打字机"效果。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35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精细限流与配额管理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301" y="682526"/>
            <a:ext cx="634901" cy="38100"/>
          </a:xfrm>
          <a:prstGeom prst="roundRect">
            <a:avLst>
              <a:gd name="adj" fmla="val 33333"/>
            </a:avLst>
          </a:prstGeom>
          <a:solidFill>
            <a:srgbClr val="FFB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847576"/>
            <a:ext cx="4076849" cy="830907"/>
          </a:xfrm>
          <a:prstGeom prst="roundRect">
            <a:avLst>
              <a:gd name="adj" fmla="val 764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776" y="958602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限流模板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2776" y="1209377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创建可复用的限流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，批量绑定 API Key。未绑定的 Key 自动走默认策略，无需逐个配置。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6301" y="1767334"/>
            <a:ext cx="4076849" cy="1340197"/>
          </a:xfrm>
          <a:prstGeom prst="roundRect">
            <a:avLst>
              <a:gd name="adj" fmla="val 4738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776" y="1878360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多维限制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2776" y="2230785"/>
            <a:ext cx="3803898" cy="61332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3776" y="2249835"/>
            <a:ext cx="34913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并发上限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最大同时进行中的请求数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23776" y="2466975"/>
            <a:ext cx="34913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每分钟请求数，自动滑动窗口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23776" y="2684115"/>
            <a:ext cx="34913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自定义窗口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如 100 次 / 5 小时，灵活配额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6301" y="3196382"/>
            <a:ext cx="4076849" cy="830907"/>
          </a:xfrm>
          <a:prstGeom prst="roundRect">
            <a:avLst>
              <a:gd name="adj" fmla="val 764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2776" y="3307407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时段调度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2776" y="3558183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工作日高峰放宽限流，夜间自动收紧。支持跨午夜时段（如 21:00-09:00），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无需人工干预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6301" y="4116139"/>
            <a:ext cx="4076849" cy="830907"/>
          </a:xfrm>
          <a:prstGeom prst="roundRect">
            <a:avLst>
              <a:gd name="adj" fmla="val 764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2776" y="4227165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配额倍率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2776" y="4477941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GPT-4o 消耗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倍配额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，调用 GPT-4o-mini 消耗 1 倍。自然引导用户选择高效模型，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降低成本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0850" y="847576"/>
            <a:ext cx="4076849" cy="1387673"/>
          </a:xfrm>
          <a:prstGeom prst="roundRect">
            <a:avLst>
              <a:gd name="adj" fmla="val 4576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97326" y="958602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请求全链路保护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97326" y="1209377"/>
            <a:ext cx="38799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每个请求经过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层检查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，任何一层拦截都返回清晰的错误信息：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97326" y="1445568"/>
            <a:ext cx="485775" cy="244376"/>
          </a:xfrm>
          <a:prstGeom prst="roundRect">
            <a:avLst>
              <a:gd name="adj" fmla="val 15591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7990" y="1505843"/>
            <a:ext cx="4244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321201" y="15106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60950" y="1445568"/>
            <a:ext cx="485775" cy="244376"/>
          </a:xfrm>
          <a:prstGeom prst="roundRect">
            <a:avLst>
              <a:gd name="adj" fmla="val 15591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91615" y="1505843"/>
            <a:ext cx="4244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权限检查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984825" y="15106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24575" y="1445568"/>
            <a:ext cx="485775" cy="244376"/>
          </a:xfrm>
          <a:prstGeom prst="roundRect">
            <a:avLst>
              <a:gd name="adj" fmla="val 15591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55240" y="1505843"/>
            <a:ext cx="4244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限流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648450" y="15106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88200" y="1445568"/>
            <a:ext cx="485775" cy="244376"/>
          </a:xfrm>
          <a:prstGeom prst="roundRect">
            <a:avLst>
              <a:gd name="adj" fmla="val 15591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18864" y="1505843"/>
            <a:ext cx="4244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路由选择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312075" y="15106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51824" y="1445568"/>
            <a:ext cx="485775" cy="244376"/>
          </a:xfrm>
          <a:prstGeom prst="roundRect">
            <a:avLst>
              <a:gd name="adj" fmla="val 15591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482489" y="1505843"/>
            <a:ext cx="4244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部署流控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975699" y="15106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15449" y="1445568"/>
            <a:ext cx="485775" cy="244376"/>
          </a:xfrm>
          <a:prstGeom prst="roundRect">
            <a:avLst>
              <a:gd name="adj" fmla="val 15591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146113" y="1505843"/>
            <a:ext cx="4244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上游代理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97326" y="1766143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认证层验证 Key 合法性；权限层检查模型白名单；限流层执行 Plan 策略；路由层选择最优部署；流控层排队保护上游。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0850" y="2324100"/>
            <a:ext cx="4076849" cy="830907"/>
          </a:xfrm>
          <a:prstGeom prst="roundRect">
            <a:avLst>
              <a:gd name="adj" fmla="val 764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97326" y="2435126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级管控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97326" y="2685901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每把 API Key 独立绑定 Plan、设置 RPM 上限、模型白名单和用量预算。VIP Key 在流量高峰享有优先权。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0850" y="3243858"/>
            <a:ext cx="4076849" cy="830907"/>
          </a:xfrm>
          <a:prstGeom prst="roundRect">
            <a:avLst>
              <a:gd name="adj" fmla="val 764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97326" y="3354884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热重载生效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97326" y="3605659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Dashboard 修改 Plan 或绑定关系后即时生效，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无需重启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，不影响正在进行的请求。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06301" y="4626173"/>
            <a:ext cx="8331398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6301" y="4681686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Plan（限流模板）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可复用的限流配置单元，包含并发上限、RPM、自定义窗口等。多个 Key 绑定同一 Plan，修改一处全局生效。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06301" y="4793307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滑动窗口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限流计数算法，记录时间窗口内的请求数，窗口随时间滑动自然过期，比固定窗口更平滑，无边界突发。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06301" y="4904929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配额倍率 (quota_count_ratio)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每个部署可设消耗系数，如 GPT-4o ratio=3 则一次请求消耗 3 单位配额，引导使用高效模型。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智能路由与高可用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657076"/>
            <a:ext cx="634901" cy="38100"/>
          </a:xfrm>
          <a:prstGeom prst="roundRect">
            <a:avLst>
              <a:gd name="adj" fmla="val 33333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796677"/>
            <a:ext cx="4310807" cy="1186011"/>
          </a:xfrm>
          <a:prstGeom prst="roundRect">
            <a:avLst>
              <a:gd name="adj" fmla="val 5354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825" y="895052"/>
            <a:ext cx="41444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三级匹配，请求永不丢弃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4825" y="1136303"/>
            <a:ext cx="1235720" cy="380851"/>
          </a:xfrm>
          <a:prstGeom prst="roundRect">
            <a:avLst>
              <a:gd name="adj" fmla="val 10004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1045" y="1196578"/>
            <a:ext cx="1163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精确匹配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1045" y="1342579"/>
            <a:ext cx="11632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model_name 直接命中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778645" y="1269504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18395" y="1145828"/>
            <a:ext cx="1235869" cy="361801"/>
          </a:xfrm>
          <a:prstGeom prst="roundRect">
            <a:avLst>
              <a:gd name="adj" fmla="val 10531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54613" y="1206103"/>
            <a:ext cx="1163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别名解析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954613" y="1352104"/>
            <a:ext cx="11634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→ gpt-4o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192363" y="1269504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32113" y="1136303"/>
            <a:ext cx="1235869" cy="380851"/>
          </a:xfrm>
          <a:prstGeom prst="roundRect">
            <a:avLst>
              <a:gd name="adj" fmla="val 10004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68332" y="1196578"/>
            <a:ext cx="1163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兜底路由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68332" y="1342579"/>
            <a:ext cx="1163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通配 * 部署兜底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04825" y="1567904"/>
            <a:ext cx="414442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逐级查找，确保任何模型请求都能被处理。即使请求了未配置的模型，也能通过兜底路由转发到上游。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1000" y="2058888"/>
            <a:ext cx="4310807" cy="658118"/>
          </a:xfrm>
          <a:prstGeom prst="roundRect">
            <a:avLst>
              <a:gd name="adj" fmla="val 7719"/>
            </a:avLst>
          </a:prstGeom>
          <a:solidFill>
            <a:srgbClr val="FFB347">
              <a:alpha val="5000"/>
            </a:srgbClr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2026" y="2131814"/>
            <a:ext cx="41705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模型别名 — 无感知迁移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2026" y="2319040"/>
            <a:ext cx="4170530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透明别名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："gpt-4" 自动路由到 "gpt-4o"，客户端代码无需修改。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2026" y="2481560"/>
            <a:ext cx="4170530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隐藏别名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：仅路由生效，不出现在模型发现接口中。保护内部路由策略不被暴露。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1000" y="2793206"/>
            <a:ext cx="4310807" cy="1625947"/>
          </a:xfrm>
          <a:prstGeom prst="roundRect">
            <a:avLst>
              <a:gd name="adj" fmla="val 3905"/>
            </a:avLst>
          </a:prstGeom>
          <a:solidFill>
            <a:srgbClr val="1A1810"/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4825" y="2891582"/>
            <a:ext cx="41444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亲和路由与再平衡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4825" y="3120182"/>
            <a:ext cx="4144420" cy="43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亲和原理</a:t>
            </a:r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：以 </a:t>
            </a:r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{Key + Model}</a:t>
            </a:r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为维度建立亲和映射 — 同一用户对同一模型的请求始终路由到同一部署，最大化利用上游的 KV Cache 前缀缓存，显著降低首 Token 延迟和推理成本。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4825" y="3607594"/>
            <a:ext cx="882402" cy="346025"/>
          </a:xfrm>
          <a:prstGeom prst="roundRect">
            <a:avLst>
              <a:gd name="adj" fmla="val 11011"/>
            </a:avLst>
          </a:prstGeom>
          <a:solidFill>
            <a:srgbClr val="1A1810"/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1523" y="3655219"/>
            <a:ext cx="8290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首次请求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1523" y="3791694"/>
            <a:ext cx="829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选最低负载部署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425327" y="3723382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565077" y="3607594"/>
            <a:ext cx="882402" cy="346025"/>
          </a:xfrm>
          <a:prstGeom prst="roundRect">
            <a:avLst>
              <a:gd name="adj" fmla="val 11011"/>
            </a:avLst>
          </a:prstGeom>
          <a:solidFill>
            <a:srgbClr val="1A1810"/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91775" y="3655219"/>
            <a:ext cx="8290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记录亲和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591775" y="3791694"/>
            <a:ext cx="829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Key:Model → 部署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485579" y="3723382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625328" y="3607594"/>
            <a:ext cx="882402" cy="346025"/>
          </a:xfrm>
          <a:prstGeom prst="roundRect">
            <a:avLst>
              <a:gd name="adj" fmla="val 11011"/>
            </a:avLst>
          </a:prstGeom>
          <a:solidFill>
            <a:srgbClr val="1A1810"/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652026" y="3655219"/>
            <a:ext cx="8290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后续命中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52026" y="3791694"/>
            <a:ext cx="829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亲和部署优先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545830" y="3723382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85580" y="3607594"/>
            <a:ext cx="882402" cy="346025"/>
          </a:xfrm>
          <a:prstGeom prst="roundRect">
            <a:avLst>
              <a:gd name="adj" fmla="val 11011"/>
            </a:avLst>
          </a:prstGeom>
          <a:solidFill>
            <a:srgbClr val="1A1810"/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712278" y="3655219"/>
            <a:ext cx="8290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再平衡检查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12278" y="3791694"/>
            <a:ext cx="829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负载超阈值则迁移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504825" y="4004370"/>
            <a:ext cx="414442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再平衡机制</a:t>
            </a:r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：每次请求检查亲和部署的实时负载（在途 + 排队）。若亲和部署负载超过最低负载部署 </a:t>
            </a:r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超过阈值</a:t>
            </a:r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，自动将亲和迁移到最低负载部署，避免热点堆积。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44207" y="796677"/>
            <a:ext cx="3918793" cy="741759"/>
          </a:xfrm>
          <a:prstGeom prst="roundRect">
            <a:avLst>
              <a:gd name="adj" fmla="val 8561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68032" y="895052"/>
            <a:ext cx="37445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Robin 轮询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68032" y="1123652"/>
            <a:ext cx="374456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原子计数器均匀分配，适合上游无状态或无需 KV 亲和的场景。两种策略可按模型独立配置。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44207" y="1614636"/>
            <a:ext cx="3918793" cy="741759"/>
          </a:xfrm>
          <a:prstGeom prst="roundRect">
            <a:avLst>
              <a:gd name="adj" fmla="val 8561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68032" y="1713012"/>
            <a:ext cx="37445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故障自动摘除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968032" y="1941612"/>
            <a:ext cx="374456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连续失败 </a:t>
            </a:r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次</a:t>
            </a:r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自动禁用异常部署，Dashboard 显示警告。上游修复后一键重新启用，无需重启网关。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44207" y="2432596"/>
            <a:ext cx="3918793" cy="741759"/>
          </a:xfrm>
          <a:prstGeom prst="roundRect">
            <a:avLst>
              <a:gd name="adj" fmla="val 8561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968032" y="2530971"/>
            <a:ext cx="37445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热配置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68032" y="2759571"/>
            <a:ext cx="374456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Dashboard 或 SIGHUP 即时添加/修改部署和别名。</a:t>
            </a:r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来源的配置跨重载保留</a:t>
            </a:r>
            <a:pPr algn="l" indent="0" marL="0">
              <a:lnSpc>
                <a:spcPts val="1148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，运行时状态（计数器、排队、亲和映射）不受影响。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81000" y="4514552"/>
            <a:ext cx="8382000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1000" y="4570065"/>
            <a:ext cx="854964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 前缀缓存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上游推理引擎缓存已计算的 Key-Value 注意力矩阵。相同用户连续对话时命中缓存可跳过重复计算，显著降低首 Token 延迟和推理成本。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81000" y="4681686"/>
            <a:ext cx="854964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亲和路由 (Key Affinity)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以 {API Key + Model} 为维度绑定固定部署，确保同一用户的请求始终落到同一上游，最大化 KV Cache 命中率。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381000" y="4793307"/>
            <a:ext cx="854964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再平衡 (Rebalance)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每次请求检查亲和部署负载，若超过最低负载部署一定阈值，自动迁移亲和绑定，防止热点堆积导致部分部署过载。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381000" y="4904929"/>
            <a:ext cx="854964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兜底路由 (*)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"*" 是一个真实的 model_name，当请求的模型精确匹配和别名解析都未命中时，路由到该兜底部署，确保请求不被丢弃。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35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流控保护与可观测性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301" y="682526"/>
            <a:ext cx="634901" cy="38100"/>
          </a:xfrm>
          <a:prstGeom prst="roundRect">
            <a:avLst>
              <a:gd name="adj" fmla="val 33333"/>
            </a:avLst>
          </a:prstGeom>
          <a:solidFill>
            <a:srgbClr val="FFB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847576"/>
            <a:ext cx="4076849" cy="1188988"/>
          </a:xfrm>
          <a:prstGeom prst="roundRect">
            <a:avLst>
              <a:gd name="adj" fmla="val 5341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776" y="958602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每部署独立限流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2776" y="1209377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Inflight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限制单个部署的并发请求上限，保护上游供应商不被突发流量打爆。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2776" y="1567458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Context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限制总输入字符预算，防止单个大上下文请求垄断资源、饿死其他请求。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2125414"/>
            <a:ext cx="4076849" cy="1064568"/>
          </a:xfrm>
          <a:prstGeom prst="roundRect">
            <a:avLst>
              <a:gd name="adj" fmla="val 5965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2776" y="2236440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优先队列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2776" y="2501503"/>
            <a:ext cx="5698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优先级: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52227" y="2487216"/>
            <a:ext cx="888950" cy="152400"/>
          </a:xfrm>
          <a:prstGeom prst="roundRect">
            <a:avLst>
              <a:gd name="adj" fmla="val 16667"/>
            </a:avLst>
          </a:prstGeom>
          <a:solidFill>
            <a:srgbClr val="FFB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91928" y="2501503"/>
            <a:ext cx="731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Key</a:t>
            </a:r>
            <a:pPr algn="l" indent="0" marL="0">
              <a:buNone/>
            </a:pPr>
            <a:r>
              <a:rPr lang="en-US" sz="7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优先出队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2776" y="2692003"/>
            <a:ext cx="5698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普通: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52227" y="2677716"/>
            <a:ext cx="1269950" cy="152400"/>
          </a:xfrm>
          <a:prstGeom prst="roundRect">
            <a:avLst>
              <a:gd name="adj" fmla="val 16667"/>
            </a:avLst>
          </a:prstGeom>
          <a:solidFill>
            <a:srgbClr val="3344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72928" y="2692003"/>
            <a:ext cx="6274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 FIFO 顺序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2776" y="2880866"/>
            <a:ext cx="38799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高峰时付费用户优先获得上游资源，保障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差异化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6301" y="3278832"/>
            <a:ext cx="4076849" cy="830907"/>
          </a:xfrm>
          <a:prstGeom prst="roundRect">
            <a:avLst>
              <a:gd name="adj" fmla="val 764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2776" y="3389858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优雅背压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2776" y="3640634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满载时请求排队等待而非直接拒绝。可配置超时时间，超时返回清晰的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响应，客户端可重试。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0850" y="847576"/>
            <a:ext cx="4076849" cy="830907"/>
          </a:xfrm>
          <a:prstGeom prst="roundRect">
            <a:avLst>
              <a:gd name="adj" fmla="val 7642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97326" y="958602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实时监控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97326" y="1209377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实时刷新每个部署的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在途请求数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排队深度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上下文用量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。排队等待者显示 Key Alias，便于运维快速决策。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0850" y="1767334"/>
            <a:ext cx="4076849" cy="830907"/>
          </a:xfrm>
          <a:prstGeom prst="roundRect">
            <a:avLst>
              <a:gd name="adj" fmla="val 764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97326" y="1878360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请求审计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97326" y="2129135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每次请求完整记录：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模型、Token 用量、耗时、Key、团队、状态码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。支持按时间、模型、Key、团队多维筛选，可导出分析。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0850" y="2687092"/>
            <a:ext cx="4076849" cy="830907"/>
          </a:xfrm>
          <a:prstGeom prst="roundRect">
            <a:avLst>
              <a:gd name="adj" fmla="val 764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97326" y="2798118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错误诊断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97326" y="3048893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上游返回错误时自动捕获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完整请求体和响应体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，保留 Request ID 用于关联追踪。一键定位问题根因，无需复现。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0850" y="3606850"/>
            <a:ext cx="4076849" cy="830907"/>
          </a:xfrm>
          <a:prstGeom prst="roundRect">
            <a:avLst>
              <a:gd name="adj" fmla="val 764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97326" y="3717875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排队透明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97326" y="3968651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每个部署的排队等待者可见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Alias 和 VIP 状态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。运维可判断是否需要扩容或调整限流策略。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6301" y="4514552"/>
            <a:ext cx="8331398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301" y="4570065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背压 (Backpressure)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当下游（上游供应商）处理能力不足时，网关将请求排队而非丢弃，像水流中的阀门一样控制流量，防止过载传导。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06301" y="4681686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Key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标记为 VIP 的 API Key，在流控排队时优先出队。用于区分付费等级，保障高优先级用户的 SLA。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06301" y="4793307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上下文预算 (Max Context)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限制单个部署所有在途请求的总输入字符数。防止一个超大 prompt 占满上游全部计算资源。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06301" y="4904929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 状态码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HTTP 标准状态码 "Too Many Requests"，表示客户端请求过于频繁，应等待后重试。网关在排队超时时返回此码。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看板功能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657076"/>
            <a:ext cx="634901" cy="38100"/>
          </a:xfrm>
          <a:prstGeom prst="roundRect">
            <a:avLst>
              <a:gd name="adj" fmla="val 33333"/>
            </a:avLst>
          </a:prstGeom>
          <a:solidFill>
            <a:srgbClr val="FFB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796677"/>
            <a:ext cx="4114800" cy="231577"/>
          </a:xfrm>
          <a:prstGeom prst="roundRect">
            <a:avLst>
              <a:gd name="adj" fmla="val 16452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821978"/>
            <a:ext cx="39381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管理员视角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000" y="1028254"/>
            <a:ext cx="4114800" cy="1015305"/>
          </a:xfrm>
          <a:prstGeom prst="roundRect">
            <a:avLst>
              <a:gd name="adj" fmla="val 6254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113979"/>
            <a:ext cx="39444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实时监控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4825" y="1333054"/>
            <a:ext cx="3944493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模型统计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每个模型的请求数、成功率、错误数、Token 用量、平均耗时、最后请求时间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4825" y="1632793"/>
            <a:ext cx="3944493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在途请求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每个部署的并发数/上限、上下文用量、流控排队深度，3 秒自动刷新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4825" y="1795314"/>
            <a:ext cx="3944493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排队详情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排队中显示每个等待者的 Key Alias 和 VIP 状态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1000" y="2106960"/>
            <a:ext cx="4114800" cy="990005"/>
          </a:xfrm>
          <a:prstGeom prst="roundRect">
            <a:avLst>
              <a:gd name="adj" fmla="val 6414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4825" y="2192685"/>
            <a:ext cx="39444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请求日志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4825" y="2411760"/>
            <a:ext cx="3944493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每条记录包含：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时间、团队、Key、模型、路径、状态码、流式标记、Token 用量、耗时、错误类型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4825" y="2711500"/>
            <a:ext cx="3944493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支持按模型、Key、团队、状态码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多维筛选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，分页浏览，错误行可点击查看 Debug 详情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1000" y="3160365"/>
            <a:ext cx="4114800" cy="553045"/>
          </a:xfrm>
          <a:prstGeom prst="roundRect">
            <a:avLst>
              <a:gd name="adj" fmla="val 1148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246090"/>
            <a:ext cx="39444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团队分析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4825" y="3465165"/>
            <a:ext cx="3944493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按团队聚合：Key 数量、请求总量、Input/Output Token 消耗，掌握团队级成本分布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1000" y="3776811"/>
            <a:ext cx="4114800" cy="690265"/>
          </a:xfrm>
          <a:prstGeom prst="roundRect">
            <a:avLst>
              <a:gd name="adj" fmla="val 9199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4825" y="3862536"/>
            <a:ext cx="39444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诊断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4825" y="4081611"/>
            <a:ext cx="3944493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一键开启 Debug 模式，上游错误时自动捕获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完整请求体 + 上游响应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，点击日志行直接查看，无需复现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48200" y="796677"/>
            <a:ext cx="4114800" cy="231577"/>
          </a:xfrm>
          <a:prstGeom prst="roundRect">
            <a:avLst>
              <a:gd name="adj" fmla="val 16452"/>
            </a:avLst>
          </a:prstGeom>
          <a:solidFill>
            <a:srgbClr val="FFB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5150" y="821978"/>
            <a:ext cx="39381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0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用户视角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48200" y="1028254"/>
            <a:ext cx="4114800" cy="878086"/>
          </a:xfrm>
          <a:prstGeom prst="roundRect">
            <a:avLst>
              <a:gd name="adj" fmla="val 7232"/>
            </a:avLst>
          </a:prstGeom>
          <a:solidFill>
            <a:srgbClr val="1A1810"/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72025" y="1113979"/>
            <a:ext cx="39444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套餐与限流状态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2025" y="1333054"/>
            <a:ext cx="3944493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 Plan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查看 Plan 名称、并发上限、RPM、自定义窗口配额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72025" y="1495574"/>
            <a:ext cx="3944493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实时用量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当前并发数 / 上限，每个时间窗口已用 / 总量，进度条可视化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72025" y="1658094"/>
            <a:ext cx="3944493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配额倒计时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窗口用完时显示剩余重置时间，合理规划请求节奏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48200" y="1969740"/>
            <a:ext cx="4114800" cy="553045"/>
          </a:xfrm>
          <a:prstGeom prst="roundRect">
            <a:avLst>
              <a:gd name="adj" fmla="val 1148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72025" y="2055465"/>
            <a:ext cx="39444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消耗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2025" y="2274540"/>
            <a:ext cx="3944493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Token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分别统计，含百分比占比。直观掌握 Token 消耗结构和总用量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48200" y="2586186"/>
            <a:ext cx="4114800" cy="690265"/>
          </a:xfrm>
          <a:prstGeom prst="roundRect">
            <a:avLst>
              <a:gd name="adj" fmla="val 9199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72025" y="2671911"/>
            <a:ext cx="39444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信息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2025" y="2890986"/>
            <a:ext cx="3944493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 Key Alias、Token 前缀、消费金额、预算上限、RPM 限制、过期时间、创建时间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48200" y="3339852"/>
            <a:ext cx="4114800" cy="852785"/>
          </a:xfrm>
          <a:prstGeom prst="roundRect">
            <a:avLst>
              <a:gd name="adj" fmla="val 7446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72025" y="3425577"/>
            <a:ext cx="39444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请求历史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2025" y="3644652"/>
            <a:ext cx="3944493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分页浏览个人请求记录：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时间、模型、API 路径、状态码、流式标记、Token 用量、耗时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72025" y="3944392"/>
            <a:ext cx="3944493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错误请求显示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错误类型和详情</a:t>
            </a:r>
            <a:pPr algn="l" indent="0" marL="0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，帮助定位是自己调用问题还是上游问题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1000" y="4737795"/>
            <a:ext cx="8382000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1000" y="4793307"/>
            <a:ext cx="854964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模式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管理员一键开启后，上游返回错误时自动捕获完整请求体和上游响应体，保留 Request ID 用于关联追踪，无需复现即可定位问题。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81000" y="4904929"/>
            <a:ext cx="8549640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窗口进度条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用户 Dashboard 可视化显示每个限流窗口的已用/总量比例，接近用完时变色警告并显示重置倒计时。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350"/>
            <a:ext cx="84980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生产就绪的 API 平台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301" y="682526"/>
            <a:ext cx="634901" cy="38100"/>
          </a:xfrm>
          <a:prstGeom prst="roundRect">
            <a:avLst>
              <a:gd name="adj" fmla="val 33333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847576"/>
            <a:ext cx="4076849" cy="1188988"/>
          </a:xfrm>
          <a:prstGeom prst="roundRect">
            <a:avLst>
              <a:gd name="adj" fmla="val 5341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776" y="958602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原生性能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2776" y="1209377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GC 暂停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谈判式延迟敏感的流式场景不受影响。热路径零堆分配，内存占用稳定可预测。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2776" y="1567458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 异步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单机处理海量并发流式连接，资源利用率远超 Go/Node 方案。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6301" y="2125414"/>
            <a:ext cx="4076849" cy="1028998"/>
          </a:xfrm>
          <a:prstGeom prst="roundRect">
            <a:avLst>
              <a:gd name="adj" fmla="val 6171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2776" y="2236440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零停机运维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2776" y="2487216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热重载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SIGHUP 或 API 触发，配置即时生效。部署、别名、限流策略修改不需要重启。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2776" y="2845296"/>
            <a:ext cx="38799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状态保留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重载时运行时计数器、排队状态、已建立的连接全部保留。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6301" y="3243263"/>
            <a:ext cx="4076849" cy="830907"/>
          </a:xfrm>
          <a:prstGeom prst="roundRect">
            <a:avLst>
              <a:gd name="adj" fmla="val 7642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2776" y="3354288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兼容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2776" y="3605064"/>
            <a:ext cx="38799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直接读取 litellm 的密钥和团队数据表，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无需数据迁移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。可直接替换现有 litellm proxy，迁移成本为零。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0850" y="847576"/>
            <a:ext cx="4076849" cy="2151608"/>
          </a:xfrm>
          <a:prstGeom prst="roundRect">
            <a:avLst>
              <a:gd name="adj" fmla="val 2951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7326" y="958602"/>
            <a:ext cx="38799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一站式管理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97326" y="1311027"/>
            <a:ext cx="3803898" cy="142473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78326" y="1330077"/>
            <a:ext cx="349135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密钥管理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创建、搜索、编辑 API Key，设置别名、权限、预算、VIP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78326" y="1707207"/>
            <a:ext cx="34913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模型部署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添加/修改上游部署，配置负载均衡策略和超时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78326" y="1924348"/>
            <a:ext cx="34913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限流配置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创建 Plan、绑定 Key、查看用量进度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78326" y="2141488"/>
            <a:ext cx="34913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实时监控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在途请求、排队深度、每部署统计，自动刷新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78326" y="2358628"/>
            <a:ext cx="34913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审计日志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多维筛选请求记录，追踪 Token 用量和错误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78326" y="2575768"/>
            <a:ext cx="34913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团队分析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按团队查看用量、Token 消耗、Key 数量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0850" y="3088035"/>
            <a:ext cx="4076849" cy="711101"/>
          </a:xfrm>
          <a:prstGeom prst="roundRect">
            <a:avLst>
              <a:gd name="adj" fmla="val 8930"/>
            </a:avLst>
          </a:prstGeom>
          <a:solidFill>
            <a:srgbClr val="00D4FF">
              <a:alpha val="5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7601" y="3234035"/>
            <a:ext cx="375701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BooMGateway 将裸多供应商 LLM 集群转变为</a:t>
            </a:r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生产级、可观测、可管控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 API 平台。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6301" y="4626173"/>
            <a:ext cx="8331398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301" y="4681686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兼容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直接读取 litellm 的 LiteLLM_VerificationToken 和 LiteLLM_TeamTable 数据表，无需数据迁移，可无缝替换现有 litellm proxy。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06301" y="4793307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tokio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Rust 异步运行时，基于 epoll/kqueue 的事件循环，单线程可调度万级并发任务，是 Rust 高性能网络服务的事实标准。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06301" y="4904929"/>
            <a:ext cx="849802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b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热重载 (Hot Reload)</a:t>
            </a:r>
            <a:pPr algn="l" indent="0" marL="0">
              <a:lnSpc>
                <a:spcPts val="78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SIGHUP 或 API 触发后重新读取配置，原子替换 ArcSwap 中的引用。新请求立即看到新配置，进行中的请求继续使用旧配置，零停机。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BooMGateway - High-Performance LLM API Gateway</dc:title>
  <dc:subject>PptxGenJS Presentation</dc:subject>
  <dc:creator>BooMGateway Team</dc:creator>
  <cp:lastModifiedBy>BooMGateway Team</cp:lastModifiedBy>
  <cp:revision>1</cp:revision>
  <dcterms:created xsi:type="dcterms:W3CDTF">2026-04-15T03:07:18Z</dcterms:created>
  <dcterms:modified xsi:type="dcterms:W3CDTF">2026-04-15T03:07:18Z</dcterms:modified>
</cp:coreProperties>
</file>