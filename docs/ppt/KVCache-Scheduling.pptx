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93625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802" y="177701"/>
            <a:ext cx="29477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网关联动超节点 KV Cache 调度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58136" y="272951"/>
            <a:ext cx="20709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Gateway-Coordinated KV Cache Merge Scheduling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55550" y="526852"/>
            <a:ext cx="8432899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807690"/>
            <a:ext cx="5958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调度前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5550" y="956816"/>
            <a:ext cx="5958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分散在多节点</a:t>
            </a:r>
            <a:endParaRPr lang="en-US" sz="600" dirty="0"/>
          </a:p>
        </p:txBody>
      </p:sp>
      <p:pic>
        <p:nvPicPr>
          <p:cNvPr id="8" name="Image 0" descr="/tmp/kvcache-ppt/nod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99" y="615702"/>
            <a:ext cx="634901" cy="6349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37521" y="1263253"/>
            <a:ext cx="5105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已有前缀 A 区块</a:t>
            </a:r>
            <a:endParaRPr lang="en-US" sz="550" dirty="0"/>
          </a:p>
        </p:txBody>
      </p:sp>
      <p:pic>
        <p:nvPicPr>
          <p:cNvPr id="10" name="Image 1" descr="/tmp/kvcache-ppt/nod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50" y="615702"/>
            <a:ext cx="634901" cy="6349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7146" y="1263253"/>
            <a:ext cx="7241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已有前缀 B 区块 (最高)</a:t>
            </a:r>
            <a:endParaRPr lang="en-US" sz="550" dirty="0"/>
          </a:p>
        </p:txBody>
      </p:sp>
      <p:pic>
        <p:nvPicPr>
          <p:cNvPr id="12" name="Image 2" descr="/tmp/kvcache-ppt/nod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902" y="615702"/>
            <a:ext cx="634901" cy="634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62154" y="1263253"/>
            <a:ext cx="5184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已有前缀 C 区块</a:t>
            </a:r>
            <a:endParaRPr lang="en-US" sz="550" dirty="0"/>
          </a:p>
        </p:txBody>
      </p:sp>
      <p:pic>
        <p:nvPicPr>
          <p:cNvPr id="14" name="Image 3" descr="/tmp/kvcache-ppt/merge-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354" y="1383804"/>
            <a:ext cx="9144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98255" y="1436191"/>
            <a:ext cx="2410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网关调度</a:t>
            </a:r>
            <a:pPr algn="l" indent="0" marL="0"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将 A 的独有 10% + C 的独有 30% 迁移到 Node B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355550" y="1801267"/>
            <a:ext cx="5958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调度后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355550" y="1950393"/>
            <a:ext cx="5958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集中至最优目标节点</a:t>
            </a:r>
            <a:endParaRPr lang="en-US" sz="600" dirty="0"/>
          </a:p>
        </p:txBody>
      </p:sp>
      <p:pic>
        <p:nvPicPr>
          <p:cNvPr id="18" name="Image 4" descr="/tmp/kvcache-ppt/nodeB_f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202" y="1637705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53952" y="1806029"/>
            <a:ext cx="16417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+ 40% = 90% 命中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853952" y="2040880"/>
            <a:ext cx="164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三节点分散缓存合并为单节点高命中率</a:t>
            </a:r>
            <a:endParaRPr lang="en-US" sz="650" dirty="0"/>
          </a:p>
        </p:txBody>
      </p:sp>
      <p:sp>
        <p:nvSpPr>
          <p:cNvPr id="21" name="Text 14"/>
          <p:cNvSpPr/>
          <p:nvPr/>
        </p:nvSpPr>
        <p:spPr>
          <a:xfrm>
            <a:off x="355550" y="2399705"/>
            <a:ext cx="8432899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55550" y="2488555"/>
            <a:ext cx="46311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调度流程</a:t>
            </a:r>
            <a:endParaRPr lang="en-US" sz="700" dirty="0"/>
          </a:p>
        </p:txBody>
      </p:sp>
      <p:pic>
        <p:nvPicPr>
          <p:cNvPr id="23" name="Image 5" descr="/tmp/kvcache-ppt/badge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50" y="2701082"/>
            <a:ext cx="253901" cy="25390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651" y="2701082"/>
            <a:ext cx="4294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 KV Index，感知全局缓存分布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685651" y="2866132"/>
            <a:ext cx="42944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网关通过 kvindex 服务获取每个节点的 KV Cache 覆盖率，识别各节点持有哪些不重复的区块</a:t>
            </a:r>
            <a:endParaRPr lang="en-US" sz="650" dirty="0"/>
          </a:p>
        </p:txBody>
      </p:sp>
      <p:pic>
        <p:nvPicPr>
          <p:cNvPr id="26" name="Image 6" descr="/tmp/kvcache-ppt/badge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50" y="3043833"/>
            <a:ext cx="253901" cy="25390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5651" y="3043833"/>
            <a:ext cx="4294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排队期间触发跨节点 KV Cache 合并迁移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685651" y="3208883"/>
            <a:ext cx="42944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选定命中率最高的节点作为目标，将其他节点的独有区块合并迁移过去，在请求出队前完成预热</a:t>
            </a:r>
            <a:endParaRPr lang="en-US" sz="650" dirty="0"/>
          </a:p>
        </p:txBody>
      </p:sp>
      <p:pic>
        <p:nvPicPr>
          <p:cNvPr id="29" name="Image 7" descr="/tmp/kvcache-ppt/badge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50" y="3386584"/>
            <a:ext cx="253901" cy="25390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5651" y="3386584"/>
            <a:ext cx="4294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请求出队 → 目标节点高命中处理</a:t>
            </a:r>
            <a:endParaRPr lang="en-US" sz="850" dirty="0"/>
          </a:p>
        </p:txBody>
      </p:sp>
      <p:sp>
        <p:nvSpPr>
          <p:cNvPr id="31" name="Text 21"/>
          <p:cNvSpPr/>
          <p:nvPr/>
        </p:nvSpPr>
        <p:spPr>
          <a:xfrm>
            <a:off x="685651" y="3551634"/>
            <a:ext cx="42944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请求被路由到合并后的目标节点，以最高命中率处理，大幅减少前缀重计算，降低 TTFT</a:t>
            </a:r>
            <a:endParaRPr lang="en-US" sz="650" dirty="0"/>
          </a:p>
        </p:txBody>
      </p:sp>
      <p:sp>
        <p:nvSpPr>
          <p:cNvPr id="32" name="Text 22"/>
          <p:cNvSpPr/>
          <p:nvPr/>
        </p:nvSpPr>
        <p:spPr>
          <a:xfrm>
            <a:off x="5073551" y="3071813"/>
            <a:ext cx="3714899" cy="1193304"/>
          </a:xfrm>
          <a:prstGeom prst="roundRect">
            <a:avLst>
              <a:gd name="adj" fmla="val 6386"/>
            </a:avLst>
          </a:prstGeom>
          <a:solidFill>
            <a:srgbClr val="FFB347">
              <a:alpha val="6000"/>
            </a:srgbClr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5235476" y="3208288"/>
            <a:ext cx="3458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核心优势：分散 → 合并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5235476" y="3433614"/>
            <a:ext cx="34588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传统方案只能选"最优节点"路由，无法提升单节点命中率上限。</a:t>
            </a:r>
            <a:endParaRPr lang="en-US" sz="700" dirty="0"/>
          </a:p>
        </p:txBody>
      </p:sp>
      <p:sp>
        <p:nvSpPr>
          <p:cNvPr id="35" name="Text 25"/>
          <p:cNvSpPr/>
          <p:nvPr/>
        </p:nvSpPr>
        <p:spPr>
          <a:xfrm>
            <a:off x="5235476" y="3620839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本方案将多节点分散的 KV Cache 片段主动合并到目标节点，</a:t>
            </a:r>
            <a:endParaRPr lang="en-US" sz="750" dirty="0"/>
          </a:p>
        </p:txBody>
      </p:sp>
      <p:sp>
        <p:nvSpPr>
          <p:cNvPr id="36" name="Text 26"/>
          <p:cNvSpPr/>
          <p:nvPr/>
        </p:nvSpPr>
        <p:spPr>
          <a:xfrm>
            <a:off x="5235476" y="3817590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30%+50%+40% 的分散命中提升为 90% 集中命中。</a:t>
            </a:r>
            <a:endParaRPr lang="en-US" sz="750" dirty="0"/>
          </a:p>
        </p:txBody>
      </p:sp>
      <p:sp>
        <p:nvSpPr>
          <p:cNvPr id="37" name="Text 27"/>
          <p:cNvSpPr/>
          <p:nvPr/>
        </p:nvSpPr>
        <p:spPr>
          <a:xfrm>
            <a:off x="5235476" y="4014341"/>
            <a:ext cx="34588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排队等待时间转化为跨节点缓存合并时间，零额外延迟。</a:t>
            </a:r>
            <a:endParaRPr lang="en-US" sz="650" dirty="0"/>
          </a:p>
        </p:txBody>
      </p:sp>
      <p:sp>
        <p:nvSpPr>
          <p:cNvPr id="38" name="Text 28"/>
          <p:cNvSpPr/>
          <p:nvPr/>
        </p:nvSpPr>
        <p:spPr>
          <a:xfrm>
            <a:off x="355550" y="4848374"/>
            <a:ext cx="8432899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9"/>
          <p:cNvSpPr/>
          <p:nvPr/>
        </p:nvSpPr>
        <p:spPr>
          <a:xfrm>
            <a:off x="355550" y="4911775"/>
            <a:ext cx="8601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</a:t>
            </a:r>
            <a:pPr algn="l" indent="0" marL="0"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后端超节点提供 KV Index 查询 API 和跨节点 KV Cache 迁移能力 | 迁移在排队期间异步完成，不增加请求延迟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网关联动超节点 KV Cache 调度</dc:title>
  <dc:subject>PptxGenJS Presentation</dc:subject>
  <dc:creator>Intelligence Boom</dc:creator>
  <cp:lastModifiedBy>Intelligence Boom</cp:lastModifiedBy>
  <cp:revision>1</cp:revision>
  <dcterms:created xsi:type="dcterms:W3CDTF">2026-06-03T08:48:45Z</dcterms:created>
  <dcterms:modified xsi:type="dcterms:W3CDTF">2026-06-03T08:48:45Z</dcterms:modified>
</cp:coreProperties>
</file>