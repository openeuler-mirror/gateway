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959" y="762000"/>
            <a:ext cx="5614193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BooMGateway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3006030" y="1482626"/>
            <a:ext cx="1015901" cy="50750"/>
          </a:xfrm>
          <a:prstGeom prst="roundRect">
            <a:avLst>
              <a:gd name="adj" fmla="val 50049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06959" y="1787277"/>
            <a:ext cx="561419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400"/>
              </a:spcAft>
              <a:buNone/>
            </a:pPr>
            <a:r>
              <a:rPr lang="en-US" sz="16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High-Performance LLM API Gateway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06959" y="2330202"/>
            <a:ext cx="561419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Rust-native | Multi-provider | Enterprise-grade rate limiting and flow control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55550"/>
            <a:ext cx="839419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Overview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0151"/>
            <a:ext cx="634901" cy="38100"/>
          </a:xfrm>
          <a:prstGeom prst="roundRect">
            <a:avLst>
              <a:gd name="adj" fmla="val 33333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945952"/>
            <a:ext cx="8229600" cy="552152"/>
          </a:xfrm>
          <a:prstGeom prst="roundRect">
            <a:avLst>
              <a:gd name="adj" fmla="val 13801"/>
            </a:avLst>
          </a:prstGeom>
          <a:solidFill>
            <a:srgbClr val="1A1A2E"/>
          </a:solidFill>
          <a:ln w="19050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23824" y="1066502"/>
            <a:ext cx="809635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23824" y="1225153"/>
            <a:ext cx="809635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SDK / Anthropic SDK / curl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91000" y="1625054"/>
            <a:ext cx="762000" cy="25301"/>
          </a:xfrm>
          <a:prstGeom prst="roundRect">
            <a:avLst>
              <a:gd name="adj" fmla="val 50196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74904" y="1726555"/>
            <a:ext cx="839419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/ SSE (OpenAI-compatible API)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840855"/>
            <a:ext cx="8229600" cy="1463278"/>
          </a:xfrm>
          <a:prstGeom prst="roundRect">
            <a:avLst>
              <a:gd name="adj" fmla="val 5207"/>
            </a:avLst>
          </a:prstGeom>
          <a:solidFill>
            <a:srgbClr val="1E1E35"/>
          </a:solidFill>
          <a:ln w="19050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23824" y="1961406"/>
            <a:ext cx="80963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BOOMGATEWAY (RUST WORKSPACE)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03200" y="2180481"/>
            <a:ext cx="1927175" cy="463451"/>
          </a:xfrm>
          <a:prstGeom prst="roundRect">
            <a:avLst>
              <a:gd name="adj" fmla="val 10961"/>
            </a:avLst>
          </a:prstGeom>
          <a:solidFill>
            <a:srgbClr val="151528"/>
          </a:solidFill>
          <a:ln w="9525">
            <a:solidFill>
              <a:srgbClr val="3333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45410" y="2266206"/>
            <a:ext cx="18427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boom-auth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5410" y="2443907"/>
            <a:ext cx="18427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key auth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606576" y="2180481"/>
            <a:ext cx="1927324" cy="463451"/>
          </a:xfrm>
          <a:prstGeom prst="roundRect">
            <a:avLst>
              <a:gd name="adj" fmla="val 10961"/>
            </a:avLst>
          </a:prstGeom>
          <a:solidFill>
            <a:srgbClr val="151528"/>
          </a:solidFill>
          <a:ln w="9525">
            <a:solidFill>
              <a:srgbClr val="3333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648783" y="2266206"/>
            <a:ext cx="18429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boom-routing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48783" y="2443907"/>
            <a:ext cx="18429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+ Alias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610100" y="2180481"/>
            <a:ext cx="1927175" cy="463451"/>
          </a:xfrm>
          <a:prstGeom prst="roundRect">
            <a:avLst>
              <a:gd name="adj" fmla="val 10961"/>
            </a:avLst>
          </a:prstGeom>
          <a:solidFill>
            <a:srgbClr val="151528"/>
          </a:solidFill>
          <a:ln w="9525">
            <a:solidFill>
              <a:srgbClr val="3333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652309" y="2266206"/>
            <a:ext cx="18427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boom-limiter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52309" y="2443907"/>
            <a:ext cx="18427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 + Plan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613475" y="2180481"/>
            <a:ext cx="1927324" cy="463451"/>
          </a:xfrm>
          <a:prstGeom prst="roundRect">
            <a:avLst>
              <a:gd name="adj" fmla="val 10961"/>
            </a:avLst>
          </a:prstGeom>
          <a:solidFill>
            <a:srgbClr val="151528"/>
          </a:solidFill>
          <a:ln w="9525">
            <a:solidFill>
              <a:srgbClr val="3333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655683" y="2266206"/>
            <a:ext cx="18429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boom-flowcontrol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55683" y="2443907"/>
            <a:ext cx="18429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Inflight + Queue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3200" y="2720132"/>
            <a:ext cx="1927175" cy="463451"/>
          </a:xfrm>
          <a:prstGeom prst="roundRect">
            <a:avLst>
              <a:gd name="adj" fmla="val 10961"/>
            </a:avLst>
          </a:prstGeom>
          <a:solidFill>
            <a:srgbClr val="151528"/>
          </a:solidFill>
          <a:ln w="9525">
            <a:solidFill>
              <a:srgbClr val="3333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45410" y="2805857"/>
            <a:ext cx="18427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boom-provider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5410" y="2983557"/>
            <a:ext cx="18427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backends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606576" y="2720132"/>
            <a:ext cx="1927324" cy="463451"/>
          </a:xfrm>
          <a:prstGeom prst="roundRect">
            <a:avLst>
              <a:gd name="adj" fmla="val 10961"/>
            </a:avLst>
          </a:prstGeom>
          <a:solidFill>
            <a:srgbClr val="151528"/>
          </a:solidFill>
          <a:ln w="9525">
            <a:solidFill>
              <a:srgbClr val="3333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648783" y="2805857"/>
            <a:ext cx="18429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boom-audit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648783" y="2983557"/>
            <a:ext cx="18429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logs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610100" y="2720132"/>
            <a:ext cx="1927175" cy="463451"/>
          </a:xfrm>
          <a:prstGeom prst="roundRect">
            <a:avLst>
              <a:gd name="adj" fmla="val 10961"/>
            </a:avLst>
          </a:prstGeom>
          <a:solidFill>
            <a:srgbClr val="151528"/>
          </a:solidFill>
          <a:ln w="9525">
            <a:solidFill>
              <a:srgbClr val="3333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652309" y="2805857"/>
            <a:ext cx="184275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boom-dashboard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52309" y="2983557"/>
            <a:ext cx="184275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UI + REST API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613475" y="2720132"/>
            <a:ext cx="1927324" cy="463451"/>
          </a:xfrm>
          <a:prstGeom prst="roundRect">
            <a:avLst>
              <a:gd name="adj" fmla="val 10961"/>
            </a:avLst>
          </a:prstGeom>
          <a:solidFill>
            <a:srgbClr val="151528"/>
          </a:solidFill>
          <a:ln w="9525">
            <a:solidFill>
              <a:srgbClr val="33335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655683" y="2805857"/>
            <a:ext cx="18429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boom-config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55683" y="2983557"/>
            <a:ext cx="184290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 hot-reload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191000" y="3431084"/>
            <a:ext cx="762000" cy="25301"/>
          </a:xfrm>
          <a:prstGeom prst="roundRect">
            <a:avLst>
              <a:gd name="adj" fmla="val 50196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74904" y="3532584"/>
            <a:ext cx="839419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5566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 / Transcode (streaming)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57200" y="3646884"/>
            <a:ext cx="4051250" cy="514052"/>
          </a:xfrm>
          <a:prstGeom prst="roundRect">
            <a:avLst>
              <a:gd name="adj" fmla="val 14823"/>
            </a:avLst>
          </a:prstGeom>
          <a:solidFill>
            <a:srgbClr val="1A1A2E"/>
          </a:solidFill>
          <a:ln w="19050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65608" y="3767435"/>
            <a:ext cx="383443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UPSTREAM PROVIDERS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65608" y="3926086"/>
            <a:ext cx="38344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| Anthropic | Azure | Gemini | Bedrock | vLLM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635401" y="3646884"/>
            <a:ext cx="4051399" cy="514052"/>
          </a:xfrm>
          <a:prstGeom prst="roundRect">
            <a:avLst>
              <a:gd name="adj" fmla="val 14823"/>
            </a:avLst>
          </a:prstGeom>
          <a:solidFill>
            <a:srgbClr val="1A1A2E"/>
          </a:solidFill>
          <a:ln w="19050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743807" y="3767435"/>
            <a:ext cx="3834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9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43807" y="3926086"/>
            <a:ext cx="38345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| DashMap (in-memory)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55550"/>
            <a:ext cx="839419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Plan-based Rate Limiting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0151"/>
            <a:ext cx="634901" cy="38100"/>
          </a:xfrm>
          <a:prstGeom prst="roundRect">
            <a:avLst>
              <a:gd name="adj" fmla="val 33333"/>
            </a:avLst>
          </a:prstGeom>
          <a:solidFill>
            <a:srgbClr val="FFB3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945952"/>
            <a:ext cx="4013150" cy="1980307"/>
          </a:xfrm>
          <a:prstGeom prst="roundRect">
            <a:avLst>
              <a:gd name="adj" fmla="val 3848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4426" y="1107877"/>
            <a:ext cx="371147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Multi-dimensional Limits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4426" y="1355527"/>
            <a:ext cx="3711473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</a:t>
            </a:r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defines a complete rate-limit policy: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4426" y="1698278"/>
            <a:ext cx="3638699" cy="913656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5426" y="1698278"/>
            <a:ext cx="3322853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Concurrency</a:t>
            </a:r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max simultaneous in-flight requests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25426" y="1939379"/>
            <a:ext cx="3322853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RPM</a:t>
            </a:r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requests per minute sliding window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25426" y="2180481"/>
            <a:ext cx="3322853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Windows</a:t>
            </a:r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e.g. 100 req / 5h with quota ratio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25426" y="2421582"/>
            <a:ext cx="3322853" cy="190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</a:t>
            </a:r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time-based limit overrides (peak/off-peak)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053209"/>
            <a:ext cx="4013150" cy="1193304"/>
          </a:xfrm>
          <a:prstGeom prst="roundRect">
            <a:avLst>
              <a:gd name="adj" fmla="val 6386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44426" y="3215134"/>
            <a:ext cx="371147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Sliding Window Algorithm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4426" y="3462784"/>
            <a:ext cx="3711473" cy="571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</a:t>
            </a:r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DashMap</a:t>
            </a:r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sharded counters with per-key TTL. Zero lock contention across cores. Sub-microsecond overhead per request.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73501" y="945952"/>
            <a:ext cx="4013299" cy="920651"/>
          </a:xfrm>
          <a:prstGeom prst="roundRect">
            <a:avLst>
              <a:gd name="adj" fmla="val 8277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860727" y="1107877"/>
            <a:ext cx="37116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Lifecycle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60727" y="1412677"/>
            <a:ext cx="443508" cy="234851"/>
          </a:xfrm>
          <a:prstGeom prst="roundRect">
            <a:avLst>
              <a:gd name="adj" fmla="val 21631"/>
            </a:avLst>
          </a:prstGeom>
          <a:solidFill>
            <a:srgbClr val="1A1A2E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891814" y="1472952"/>
            <a:ext cx="3813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380434" y="1444377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09034" y="1355527"/>
            <a:ext cx="443657" cy="349151"/>
          </a:xfrm>
          <a:prstGeom prst="roundRect">
            <a:avLst>
              <a:gd name="adj" fmla="val 14550"/>
            </a:avLst>
          </a:prstGeom>
          <a:solidFill>
            <a:srgbClr val="1A1A2E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640120" y="1415802"/>
            <a:ext cx="3814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Lookup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128891" y="1444377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57491" y="1355527"/>
            <a:ext cx="443508" cy="349151"/>
          </a:xfrm>
          <a:prstGeom prst="roundRect">
            <a:avLst>
              <a:gd name="adj" fmla="val 14550"/>
            </a:avLst>
          </a:prstGeom>
          <a:solidFill>
            <a:srgbClr val="1A1A2E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388578" y="1415802"/>
            <a:ext cx="38133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Check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877199" y="1444377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05799" y="1412677"/>
            <a:ext cx="645319" cy="234851"/>
          </a:xfrm>
          <a:prstGeom prst="roundRect">
            <a:avLst>
              <a:gd name="adj" fmla="val 21631"/>
            </a:avLst>
          </a:prstGeom>
          <a:solidFill>
            <a:srgbClr val="1A1A2E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134868" y="1472952"/>
            <a:ext cx="58718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Concurrency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827318" y="1444377"/>
            <a:ext cx="15544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055918" y="1412677"/>
            <a:ext cx="443657" cy="234851"/>
          </a:xfrm>
          <a:prstGeom prst="roundRect">
            <a:avLst>
              <a:gd name="adj" fmla="val 21631"/>
            </a:avLst>
          </a:prstGeom>
          <a:solidFill>
            <a:srgbClr val="1A1A2E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8087003" y="1472952"/>
            <a:ext cx="38148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673501" y="1993553"/>
            <a:ext cx="4013299" cy="1193304"/>
          </a:xfrm>
          <a:prstGeom prst="roundRect">
            <a:avLst>
              <a:gd name="adj" fmla="val 6386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860727" y="2155478"/>
            <a:ext cx="37116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Assignment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60727" y="2403128"/>
            <a:ext cx="3711625" cy="571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keys are assigned to plans via </a:t>
            </a:r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Key-Plan Assignment</a:t>
            </a:r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Unassigned keys use the default plan. Plans can be hot-reloaded without restart.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673501" y="3313807"/>
            <a:ext cx="4013299" cy="1193304"/>
          </a:xfrm>
          <a:prstGeom prst="roundRect">
            <a:avLst>
              <a:gd name="adj" fmla="val 6386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860727" y="3475732"/>
            <a:ext cx="37116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Quota Ratio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60727" y="3723382"/>
            <a:ext cx="3711625" cy="571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Per-deployment </a:t>
            </a:r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quota_count_ratio</a:t>
            </a:r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multiplier: a request to an expensive model (e.g. GPT-4o) can consume 3x quota vs a cheap model (e.g. GPT-4o-mini).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55550"/>
            <a:ext cx="839419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Affinity Routing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730151"/>
            <a:ext cx="634901" cy="38100"/>
          </a:xfrm>
          <a:prstGeom prst="roundRect">
            <a:avLst>
              <a:gd name="adj" fmla="val 33333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945952"/>
            <a:ext cx="4378077" cy="1574602"/>
          </a:xfrm>
          <a:prstGeom prst="roundRect">
            <a:avLst>
              <a:gd name="adj" fmla="val 4839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44426" y="1107877"/>
            <a:ext cx="408369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Flow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4426" y="1355527"/>
            <a:ext cx="971848" cy="425351"/>
          </a:xfrm>
          <a:prstGeom prst="roundRect">
            <a:avLst>
              <a:gd name="adj" fmla="val 11943"/>
            </a:avLst>
          </a:prstGeom>
          <a:solidFill>
            <a:srgbClr val="0F1A2E"/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7954" y="1441252"/>
            <a:ext cx="7647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Request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7954" y="1599902"/>
            <a:ext cx="76479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 "gpt-4"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692473" y="1496764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95773" y="1355527"/>
            <a:ext cx="914549" cy="425351"/>
          </a:xfrm>
          <a:prstGeom prst="roundRect">
            <a:avLst>
              <a:gd name="adj" fmla="val 11943"/>
            </a:avLst>
          </a:prstGeom>
          <a:solidFill>
            <a:srgbClr val="1A1A2E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999873" y="1441252"/>
            <a:ext cx="7063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Alias Resolve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999873" y="1599902"/>
            <a:ext cx="70634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 → gpt-4o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886521" y="1496764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089821" y="1355527"/>
            <a:ext cx="1105198" cy="425351"/>
          </a:xfrm>
          <a:prstGeom prst="roundRect">
            <a:avLst>
              <a:gd name="adj" fmla="val 11943"/>
            </a:avLst>
          </a:prstGeom>
          <a:solidFill>
            <a:srgbClr val="0F1A2E"/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192015" y="1441252"/>
            <a:ext cx="90080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DeploymentStore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192015" y="1599902"/>
            <a:ext cx="90080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model_name lookup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44426" y="1857077"/>
            <a:ext cx="938361" cy="425351"/>
          </a:xfrm>
          <a:prstGeom prst="roundRect">
            <a:avLst>
              <a:gd name="adj" fmla="val 11943"/>
            </a:avLst>
          </a:prstGeom>
          <a:solidFill>
            <a:srgbClr val="0F1A2E"/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48288" y="1942802"/>
            <a:ext cx="7306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Round-Robin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48288" y="2101453"/>
            <a:ext cx="73063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deployment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658987" y="1998315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862286" y="1857077"/>
            <a:ext cx="863650" cy="425351"/>
          </a:xfrm>
          <a:prstGeom prst="roundRect">
            <a:avLst>
              <a:gd name="adj" fmla="val 11943"/>
            </a:avLst>
          </a:prstGeom>
          <a:solidFill>
            <a:srgbClr val="1A1A2E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966896" y="1942802"/>
            <a:ext cx="65443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Control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966896" y="2101453"/>
            <a:ext cx="6544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inflight check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2802136" y="1998315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005435" y="1857077"/>
            <a:ext cx="971699" cy="425351"/>
          </a:xfrm>
          <a:prstGeom prst="roundRect">
            <a:avLst>
              <a:gd name="adj" fmla="val 11943"/>
            </a:avLst>
          </a:prstGeom>
          <a:solidFill>
            <a:srgbClr val="0F1A2E"/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108964" y="1942802"/>
            <a:ext cx="764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Proxy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108964" y="2101453"/>
            <a:ext cx="76464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stream/non-stream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457200" y="2647504"/>
            <a:ext cx="4378077" cy="631775"/>
          </a:xfrm>
          <a:prstGeom prst="roundRect">
            <a:avLst>
              <a:gd name="adj" fmla="val 8041"/>
            </a:avLst>
          </a:prstGeom>
          <a:solidFill>
            <a:srgbClr val="FFB347">
              <a:alpha val="5000"/>
            </a:srgbClr>
          </a:solidFill>
          <a:ln w="9525">
            <a:solidFill>
              <a:srgbClr val="FFB347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93675" y="2733229"/>
            <a:ext cx="418722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Aliases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93675" y="2926854"/>
            <a:ext cx="418722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 name mapping: "gpt-4" → "gpt-4o", "claude" → "claude-sonnet-4-20250514". Hidden aliases work for routing but are not exposed in discovery.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38427" y="945952"/>
            <a:ext cx="3648373" cy="1193304"/>
          </a:xfrm>
          <a:prstGeom prst="roundRect">
            <a:avLst>
              <a:gd name="adj" fmla="val 6386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225653" y="1107877"/>
            <a:ext cx="3339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Grouping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25653" y="1355527"/>
            <a:ext cx="3339400" cy="571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deployments share the same </a:t>
            </a:r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model_name</a:t>
            </a:r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gateway load-balances across them using atomic round-robin counter.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38427" y="2266206"/>
            <a:ext cx="3648373" cy="1193304"/>
          </a:xfrm>
          <a:prstGeom prst="roundRect">
            <a:avLst>
              <a:gd name="adj" fmla="val 6386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225653" y="2428131"/>
            <a:ext cx="3339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 Routing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225653" y="2675781"/>
            <a:ext cx="3339400" cy="571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model_name acts as a catch-all: requests matching no configured model are routed to wildcard deployments, ensuring no request is dropped.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38427" y="3586460"/>
            <a:ext cx="3648373" cy="1383655"/>
          </a:xfrm>
          <a:prstGeom prst="roundRect">
            <a:avLst>
              <a:gd name="adj" fmla="val 5507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225653" y="3748385"/>
            <a:ext cx="3339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Configuration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225653" y="3996035"/>
            <a:ext cx="3339400" cy="761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400"/>
              </a:spcAft>
              <a:buNone/>
            </a:pPr>
            <a:r>
              <a:rPr lang="en-US" sz="10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Deployments and aliases can be added/modified via Dashboard or YAML hot-reload (SIGHUP). DB-sourced entries persist across reloads; YAML entries are re-seeded.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279350"/>
            <a:ext cx="849802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Control Pipeline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06301" y="625376"/>
            <a:ext cx="634901" cy="38100"/>
          </a:xfrm>
          <a:prstGeom prst="roundRect">
            <a:avLst>
              <a:gd name="adj" fmla="val 33333"/>
            </a:avLst>
          </a:prstGeom>
          <a:solidFill>
            <a:srgbClr val="FFB3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6301" y="790426"/>
            <a:ext cx="4089499" cy="1221284"/>
          </a:xfrm>
          <a:prstGeom prst="roundRect">
            <a:avLst>
              <a:gd name="adj" fmla="val 5199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2776" y="901452"/>
            <a:ext cx="38928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Three-Stage Pipeline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2776" y="1117253"/>
            <a:ext cx="1145084" cy="361950"/>
          </a:xfrm>
          <a:prstGeom prst="roundRect">
            <a:avLst>
              <a:gd name="adj" fmla="val 10526"/>
            </a:avLst>
          </a:prstGeom>
          <a:solidFill>
            <a:srgbClr val="1A1A2E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9903" y="1177528"/>
            <a:ext cx="107083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9903" y="1304479"/>
            <a:ext cx="10708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725960" y="1231553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878360" y="1117253"/>
            <a:ext cx="1145232" cy="361950"/>
          </a:xfrm>
          <a:prstGeom prst="roundRect">
            <a:avLst>
              <a:gd name="adj" fmla="val 10526"/>
            </a:avLst>
          </a:prstGeom>
          <a:solidFill>
            <a:srgbClr val="1A1A2E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915485" y="1177528"/>
            <a:ext cx="10709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915485" y="1304479"/>
            <a:ext cx="107098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 priority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061692" y="1231553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900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14092" y="1117253"/>
            <a:ext cx="1145232" cy="361950"/>
          </a:xfrm>
          <a:prstGeom prst="roundRect">
            <a:avLst>
              <a:gd name="adj" fmla="val 10526"/>
            </a:avLst>
          </a:prstGeom>
          <a:solidFill>
            <a:srgbClr val="1A1A2E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251217" y="1177528"/>
            <a:ext cx="10709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51217" y="1304479"/>
            <a:ext cx="107098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Inflight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42776" y="1542604"/>
            <a:ext cx="389287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deployment has independent 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max_inflight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max_context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limits. When full, requests queue instead of being rejected.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06301" y="2113211"/>
            <a:ext cx="4089499" cy="1176933"/>
          </a:xfrm>
          <a:prstGeom prst="roundRect">
            <a:avLst>
              <a:gd name="adj" fmla="val 5395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42776" y="2224236"/>
            <a:ext cx="38928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 Priority Queue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2776" y="2455962"/>
            <a:ext cx="5698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Priority: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152227" y="2427387"/>
            <a:ext cx="888950" cy="152400"/>
          </a:xfrm>
          <a:prstGeom prst="roundRect">
            <a:avLst>
              <a:gd name="adj" fmla="val 16667"/>
            </a:avLst>
          </a:prstGeom>
          <a:solidFill>
            <a:srgbClr val="FFB34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091928" y="2455962"/>
            <a:ext cx="97109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 keys</a:t>
            </a:r>
            <a:pPr algn="l" indent="0" marL="0">
              <a:buNone/>
            </a:pPr>
            <a:r>
              <a:rPr lang="en-US" sz="7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dequeued first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42776" y="2646462"/>
            <a:ext cx="5698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Normal: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152227" y="2617887"/>
            <a:ext cx="1269950" cy="152400"/>
          </a:xfrm>
          <a:prstGeom prst="roundRect">
            <a:avLst>
              <a:gd name="adj" fmla="val 16667"/>
            </a:avLst>
          </a:prstGeom>
          <a:solidFill>
            <a:srgbClr val="33445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472928" y="2646462"/>
            <a:ext cx="8364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FIFO order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542776" y="2821037"/>
            <a:ext cx="389287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 keys get priority access during traffic spikes — critical for premium users.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06301" y="3391644"/>
            <a:ext cx="4089499" cy="821382"/>
          </a:xfrm>
          <a:prstGeom prst="roundRect">
            <a:avLst>
              <a:gd name="adj" fmla="val 7731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42776" y="3502670"/>
            <a:ext cx="38928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Per-Deployment Limits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2776" y="3705820"/>
            <a:ext cx="38928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Inflight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concurrent request cap, protects upstream from bursts.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2776" y="3903911"/>
            <a:ext cx="389287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Context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total input char budget, prevents large-context starvation.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48200" y="790426"/>
            <a:ext cx="4089499" cy="1313408"/>
          </a:xfrm>
          <a:prstGeom prst="roundRect">
            <a:avLst>
              <a:gd name="adj" fmla="val 4835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84675" y="901452"/>
            <a:ext cx="38928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Observability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84675" y="1104602"/>
            <a:ext cx="1221284" cy="479375"/>
          </a:xfrm>
          <a:prstGeom prst="roundRect">
            <a:avLst>
              <a:gd name="adj" fmla="val 7948"/>
            </a:avLst>
          </a:prstGeom>
          <a:solidFill>
            <a:srgbClr val="1A1A2E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821040" y="1190327"/>
            <a:ext cx="114855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821040" y="1412528"/>
            <a:ext cx="114855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 QUEUE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6082159" y="1104602"/>
            <a:ext cx="1221432" cy="479375"/>
          </a:xfrm>
          <a:prstGeom prst="roundRect">
            <a:avLst>
              <a:gd name="adj" fmla="val 7948"/>
            </a:avLst>
          </a:prstGeom>
          <a:solidFill>
            <a:srgbClr val="1A1A2E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118522" y="1190327"/>
            <a:ext cx="114870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118522" y="1412528"/>
            <a:ext cx="114870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INFLIGHT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7379791" y="1104602"/>
            <a:ext cx="1221432" cy="479375"/>
          </a:xfrm>
          <a:prstGeom prst="roundRect">
            <a:avLst>
              <a:gd name="adj" fmla="val 7948"/>
            </a:avLst>
          </a:prstGeom>
          <a:solidFill>
            <a:srgbClr val="1A1A2E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7416155" y="1190327"/>
            <a:ext cx="114870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85K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416155" y="1412528"/>
            <a:ext cx="114870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4784675" y="1634728"/>
            <a:ext cx="389287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polls every 3s. Queue waiters visible with key aliases for debugging.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648200" y="2205335"/>
            <a:ext cx="4089499" cy="783282"/>
          </a:xfrm>
          <a:prstGeom prst="roundRect">
            <a:avLst>
              <a:gd name="adj" fmla="val 8107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784675" y="2316361"/>
            <a:ext cx="38928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Graceful Backpressure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784675" y="2519511"/>
            <a:ext cx="389287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Queued requests wait with configurable timeout. On timeout, clean 429 responses instead of hanging connections.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648200" y="3090118"/>
            <a:ext cx="4089499" cy="783282"/>
          </a:xfrm>
          <a:prstGeom prst="roundRect">
            <a:avLst>
              <a:gd name="adj" fmla="val 8107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784675" y="3201144"/>
            <a:ext cx="38928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Auto-Disable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784675" y="3404295"/>
            <a:ext cx="389287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Consecutive failures auto-disable a deployment. Admin dashboard shows warning with one-click re-enable after upstream is fixed.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279350"/>
            <a:ext cx="849802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and Quality Impact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06301" y="625376"/>
            <a:ext cx="634901" cy="38100"/>
          </a:xfrm>
          <a:prstGeom prst="roundRect">
            <a:avLst>
              <a:gd name="adj" fmla="val 33333"/>
            </a:avLst>
          </a:prstGeom>
          <a:solidFill>
            <a:srgbClr val="00D4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6301" y="790426"/>
            <a:ext cx="4089499" cy="1313408"/>
          </a:xfrm>
          <a:prstGeom prst="roundRect">
            <a:avLst>
              <a:gd name="adj" fmla="val 4835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2776" y="901452"/>
            <a:ext cx="38928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2776" y="1104602"/>
            <a:ext cx="1221284" cy="479375"/>
          </a:xfrm>
          <a:prstGeom prst="roundRect">
            <a:avLst>
              <a:gd name="adj" fmla="val 7948"/>
            </a:avLst>
          </a:prstGeom>
          <a:solidFill>
            <a:srgbClr val="1A1A2E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2044" y="1190327"/>
            <a:ext cx="11227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&lt;1us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2044" y="1412528"/>
            <a:ext cx="11227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 OVERHEAD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1840260" y="1104602"/>
            <a:ext cx="1221432" cy="479375"/>
          </a:xfrm>
          <a:prstGeom prst="roundRect">
            <a:avLst>
              <a:gd name="adj" fmla="val 7948"/>
            </a:avLst>
          </a:prstGeom>
          <a:solidFill>
            <a:srgbClr val="1A1A2E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889526" y="1190327"/>
            <a:ext cx="11228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889526" y="1412528"/>
            <a:ext cx="11228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 CONTENTION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3137892" y="1104602"/>
            <a:ext cx="1221432" cy="479375"/>
          </a:xfrm>
          <a:prstGeom prst="roundRect">
            <a:avLst>
              <a:gd name="adj" fmla="val 7948"/>
            </a:avLst>
          </a:prstGeom>
          <a:solidFill>
            <a:srgbClr val="1A1A2E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187159" y="1190327"/>
            <a:ext cx="112289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87159" y="1412528"/>
            <a:ext cx="11228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00"/>
              </a:spcBef>
              <a:buNone/>
            </a:pPr>
            <a:r>
              <a:rPr lang="en-US" sz="6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RELOAD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542776" y="1634728"/>
            <a:ext cx="389287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DashMap sharded counters eliminate cross-core contention. Sub-microsecond latency per request. SIGHUP hot reload with zero downtime.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6301" y="2192685"/>
            <a:ext cx="4089499" cy="783282"/>
          </a:xfrm>
          <a:prstGeom prst="roundRect">
            <a:avLst>
              <a:gd name="adj" fmla="val 8107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42776" y="2303711"/>
            <a:ext cx="38928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2776" y="2506861"/>
            <a:ext cx="389287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 async runtime (tokio) handles thousands of concurrent streams. No GC pauses, minimal per-request heap allocation.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06301" y="3064818"/>
            <a:ext cx="4089499" cy="783282"/>
          </a:xfrm>
          <a:prstGeom prst="roundRect">
            <a:avLst>
              <a:gd name="adj" fmla="val 8107"/>
            </a:avLst>
          </a:prstGeom>
          <a:solidFill>
            <a:srgbClr val="151528"/>
          </a:solidFill>
          <a:ln w="9525">
            <a:solidFill>
              <a:srgbClr val="2A2A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42776" y="3175843"/>
            <a:ext cx="38928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B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Quality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2776" y="3378994"/>
            <a:ext cx="389287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 control prevents thundering herd. VIP priority ensures premium users are never starved. Context limits prevent resource monopolization.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48200" y="790426"/>
            <a:ext cx="4089499" cy="2366814"/>
          </a:xfrm>
          <a:prstGeom prst="roundRect">
            <a:avLst>
              <a:gd name="adj" fmla="val 2683"/>
            </a:avLst>
          </a:prstGeom>
          <a:solidFill>
            <a:srgbClr val="0F1A2E"/>
          </a:solidFill>
          <a:ln w="9525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84675" y="901452"/>
            <a:ext cx="389287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Excellence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84675" y="1206252"/>
            <a:ext cx="3816548" cy="1687562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65675" y="1225302"/>
            <a:ext cx="350425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Multi-provider failover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across OpenAI, Anthropic, Azure, Bedrock, vLLM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165675" y="1602432"/>
            <a:ext cx="350425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dashboard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inflight, queue depth, per-key stats, error rates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65675" y="1979563"/>
            <a:ext cx="350425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recording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capture full request/response on upstream errors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65675" y="2356693"/>
            <a:ext cx="350425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logging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every request logged with tokens, duration, key, team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165675" y="2733824"/>
            <a:ext cx="350425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 compatible</a:t>
            </a:r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CDD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drop-in replacement for existing proxy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48200" y="3246090"/>
            <a:ext cx="4089499" cy="812155"/>
          </a:xfrm>
          <a:prstGeom prst="roundRect">
            <a:avLst>
              <a:gd name="adj" fmla="val 7819"/>
            </a:avLst>
          </a:prstGeom>
          <a:solidFill>
            <a:srgbClr val="00D4FF">
              <a:alpha val="5000"/>
            </a:srgbClr>
          </a:solidFill>
          <a:ln w="19050">
            <a:solidFill>
              <a:srgbClr val="00D4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19650" y="3366641"/>
            <a:ext cx="3821531" cy="571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BooMGateway transforms a raw multi-provider LLM cluster into a production-grade, observable, and controllable API platform — at the cost of microseconds per request.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BooMGateway: High-Performance LLM API Gateway</dc:title>
  <dc:subject>PptxGenJS Presentation</dc:subject>
  <dc:creator>BooMGateway Team</dc:creator>
  <cp:lastModifiedBy>BooMGateway Team</cp:lastModifiedBy>
  <cp:revision>1</cp:revision>
  <dcterms:created xsi:type="dcterms:W3CDTF">2026-04-12T03:56:51Z</dcterms:created>
  <dcterms:modified xsi:type="dcterms:W3CDTF">2026-04-12T03:56:51Z</dcterms:modified>
</cp:coreProperties>
</file>